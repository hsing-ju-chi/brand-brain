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ature-1-b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00200"/>
            <a:ext cx="3327350" cy="211246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914400" y="1600200"/>
            <a:ext cx="0" cy="2112466"/>
          </a:xfrm>
          <a:prstGeom prst="line">
            <a:avLst/>
          </a:prstGeom>
          <a:ln w="9525">
            <a:solidFill>
              <a:srgbClr val="3B5D45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152525" y="2105025"/>
            <a:ext cx="609600" cy="419100"/>
          </a:xfrm>
          <a:prstGeom prst="rect">
            <a:avLst/>
          </a:prstGeom>
          <a:solidFill>
            <a:srgbClr val="3B5D45"/>
          </a:solidFill>
          <a:ln w="9525">
            <a:solidFill>
              <a:srgbClr val="3B5D45">
                <a:alpha val="1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857375" y="2105025"/>
            <a:ext cx="609600" cy="419100"/>
          </a:xfrm>
          <a:prstGeom prst="rect">
            <a:avLst/>
          </a:prstGeom>
          <a:solidFill>
            <a:srgbClr val="F5F1E6"/>
          </a:solidFill>
          <a:ln w="9525">
            <a:solidFill>
              <a:srgbClr val="3B5D45">
                <a:alpha val="1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2562225" y="2105025"/>
            <a:ext cx="609600" cy="419100"/>
          </a:xfrm>
          <a:prstGeom prst="rect">
            <a:avLst/>
          </a:prstGeom>
          <a:solidFill>
            <a:srgbClr val="25302A"/>
          </a:solidFill>
          <a:ln w="9525">
            <a:solidFill>
              <a:srgbClr val="3B5D45">
                <a:alpha val="1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267075" y="2105025"/>
            <a:ext cx="609600" cy="419100"/>
          </a:xfrm>
          <a:prstGeom prst="rect">
            <a:avLst/>
          </a:prstGeom>
          <a:solidFill>
            <a:srgbClr val="B0603A"/>
          </a:solidFill>
          <a:ln w="9525">
            <a:solidFill>
              <a:srgbClr val="3B5D45">
                <a:alpha val="1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432250" y="1600200"/>
            <a:ext cx="3327350" cy="211246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Connector 9"/>
          <p:cNvCxnSpPr/>
          <p:nvPr/>
        </p:nvCxnSpPr>
        <p:spPr>
          <a:xfrm>
            <a:off x="4432250" y="1600200"/>
            <a:ext cx="0" cy="2112466"/>
          </a:xfrm>
          <a:prstGeom prst="line">
            <a:avLst/>
          </a:prstGeom>
          <a:ln w="9525">
            <a:solidFill>
              <a:srgbClr val="3B5D45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950100" y="1600200"/>
            <a:ext cx="3327499" cy="211246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2" name="Connector 11"/>
          <p:cNvCxnSpPr/>
          <p:nvPr/>
        </p:nvCxnSpPr>
        <p:spPr>
          <a:xfrm>
            <a:off x="7950100" y="1600200"/>
            <a:ext cx="0" cy="2112466"/>
          </a:xfrm>
          <a:prstGeom prst="line">
            <a:avLst/>
          </a:prstGeom>
          <a:ln w="9525">
            <a:solidFill>
              <a:srgbClr val="3B5D45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914400" y="3903166"/>
            <a:ext cx="3327350" cy="211246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914400" y="3903166"/>
            <a:ext cx="0" cy="2112466"/>
          </a:xfrm>
          <a:prstGeom prst="line">
            <a:avLst/>
          </a:prstGeom>
          <a:ln w="9525">
            <a:solidFill>
              <a:srgbClr val="3B5D45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432250" y="3903166"/>
            <a:ext cx="3327350" cy="211246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6" name="Connector 15"/>
          <p:cNvCxnSpPr/>
          <p:nvPr/>
        </p:nvCxnSpPr>
        <p:spPr>
          <a:xfrm>
            <a:off x="4432250" y="3903166"/>
            <a:ext cx="0" cy="2112466"/>
          </a:xfrm>
          <a:prstGeom prst="line">
            <a:avLst/>
          </a:prstGeom>
          <a:ln w="9525">
            <a:solidFill>
              <a:srgbClr val="3B5D45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7950100" y="3903166"/>
            <a:ext cx="3327499" cy="211246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8" name="Connector 17"/>
          <p:cNvCxnSpPr/>
          <p:nvPr/>
        </p:nvCxnSpPr>
        <p:spPr>
          <a:xfrm>
            <a:off x="7950100" y="3903166"/>
            <a:ext cx="0" cy="2112466"/>
          </a:xfrm>
          <a:prstGeom prst="line">
            <a:avLst/>
          </a:prstGeom>
          <a:ln w="9525">
            <a:solidFill>
              <a:srgbClr val="3B5D45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188225" y="4407991"/>
            <a:ext cx="495300" cy="276225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3B5D45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759725" y="4407991"/>
            <a:ext cx="619125" cy="276225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3B5D45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9455050" y="4407991"/>
            <a:ext cx="742950" cy="276225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3B5D45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10274200" y="4407991"/>
            <a:ext cx="742950" cy="276225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3B5D45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8188225" y="4760416"/>
            <a:ext cx="866775" cy="276225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3B5D45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9131200" y="4760416"/>
            <a:ext cx="619125" cy="276225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3B5D45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9826525" y="4760416"/>
            <a:ext cx="742950" cy="276225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3B5D45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188225" y="5112841"/>
            <a:ext cx="495300" cy="276225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3B5D45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icon-leaf-848b7db1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525" y="4407991"/>
            <a:ext cx="266700" cy="266700"/>
          </a:xfrm>
          <a:prstGeom prst="rect">
            <a:avLst/>
          </a:prstGeom>
        </p:spPr>
      </p:pic>
      <p:pic>
        <p:nvPicPr>
          <p:cNvPr id="28" name="Picture 27" descr="icon-users-d6ff8fc0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1625" y="4407991"/>
            <a:ext cx="266700" cy="266700"/>
          </a:xfrm>
          <a:prstGeom prst="rect">
            <a:avLst/>
          </a:prstGeom>
        </p:spPr>
      </p:pic>
      <p:pic>
        <p:nvPicPr>
          <p:cNvPr id="29" name="Picture 28" descr="icon-compass-4949d4dd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0725" y="4407991"/>
            <a:ext cx="266700" cy="266700"/>
          </a:xfrm>
          <a:prstGeom prst="rect">
            <a:avLst/>
          </a:prstGeom>
        </p:spPr>
      </p:pic>
      <p:pic>
        <p:nvPicPr>
          <p:cNvPr id="30" name="Picture 29" descr="icon-compass-4949d4dd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9825" y="4407991"/>
            <a:ext cx="266700" cy="2667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14400" y="533400"/>
            <a:ext cx="1388417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 spc="179">
                <a:solidFill>
                  <a:srgbClr val="3B5D45"/>
                </a:solidFill>
                <a:latin typeface="Noto Sans TC"/>
                <a:ea typeface="Noto Sans TC"/>
              </a:rPr>
              <a:t>山徑選物 · 品牌故事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85970" y="533400"/>
            <a:ext cx="948779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50" b="0" spc="405">
                <a:solidFill>
                  <a:srgbClr val="3B5D45"/>
                </a:solidFill>
                <a:latin typeface="LXGW WenKai TC"/>
                <a:ea typeface="LXGW WenKai TC"/>
              </a:rPr>
              <a:t>山徑選物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914400"/>
            <a:ext cx="10420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0">
                <a:solidFill>
                  <a:srgbClr val="3B5D45"/>
                </a:solidFill>
                <a:latin typeface="LXGW WenKai TC"/>
                <a:ea typeface="LXGW WenKai TC"/>
              </a:rPr>
              <a:t>Design System · 紙本雜誌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525" y="1828800"/>
            <a:ext cx="2898725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 spc="225">
                <a:solidFill>
                  <a:srgbClr val="B0603A"/>
                </a:solidFill>
                <a:latin typeface="Noto Sans TC"/>
                <a:ea typeface="Noto Sans TC"/>
              </a:rPr>
              <a:t>色票 60-30-10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2525" y="2562225"/>
            <a:ext cx="6667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75"/>
              </a:lnSpc>
            </a:pPr>
            <a:r>
              <a:rPr sz="825" b="0">
                <a:solidFill>
                  <a:srgbClr val="25302A">
                    <a:alpha val="80000"/>
                  </a:srgbClr>
                </a:solidFill>
                <a:latin typeface="ui-monospace"/>
                <a:ea typeface="ui-monospace"/>
              </a:rPr>
              <a:t>#3B5D45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57375" y="2562225"/>
            <a:ext cx="6667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75"/>
              </a:lnSpc>
            </a:pPr>
            <a:r>
              <a:rPr sz="825" b="0">
                <a:solidFill>
                  <a:srgbClr val="25302A">
                    <a:alpha val="80000"/>
                  </a:srgbClr>
                </a:solidFill>
                <a:latin typeface="ui-monospace"/>
                <a:ea typeface="ui-monospace"/>
              </a:rPr>
              <a:t>#F5F1E6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62225" y="2562225"/>
            <a:ext cx="6667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75"/>
              </a:lnSpc>
            </a:pPr>
            <a:r>
              <a:rPr sz="825" b="0">
                <a:solidFill>
                  <a:srgbClr val="25302A">
                    <a:alpha val="80000"/>
                  </a:srgbClr>
                </a:solidFill>
                <a:latin typeface="ui-monospace"/>
                <a:ea typeface="ui-monospace"/>
              </a:rPr>
              <a:t>#25302A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67075" y="2562225"/>
            <a:ext cx="6667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75"/>
              </a:lnSpc>
            </a:pPr>
            <a:r>
              <a:rPr sz="825" b="0">
                <a:solidFill>
                  <a:srgbClr val="25302A">
                    <a:alpha val="80000"/>
                  </a:srgbClr>
                </a:solidFill>
                <a:latin typeface="ui-monospace"/>
                <a:ea typeface="ui-monospace"/>
              </a:rPr>
              <a:t>#B0603A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52525" y="2800350"/>
            <a:ext cx="2898725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>
                <a:solidFill>
                  <a:srgbClr val="25302A">
                    <a:alpha val="70000"/>
                  </a:srgbClr>
                </a:solidFill>
                <a:latin typeface="Noto Sans TC"/>
                <a:ea typeface="Noto Sans TC"/>
              </a:rPr>
              <a:t>主色 · 背景 · 文字 · 強調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70375" y="1828800"/>
            <a:ext cx="2898725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 spc="225">
                <a:solidFill>
                  <a:srgbClr val="B0603A"/>
                </a:solidFill>
                <a:latin typeface="Noto Sans TC"/>
                <a:ea typeface="Noto Sans TC"/>
              </a:rPr>
              <a:t>字型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70375" y="2105025"/>
            <a:ext cx="2898725" cy="81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0">
                <a:solidFill>
                  <a:srgbClr val="3B5D45"/>
                </a:solidFill>
                <a:latin typeface="LXGW WenKai TC"/>
                <a:ea typeface="LXGW WenKai TC"/>
              </a:rPr>
              <a:t>標題 LXGW WenKai TC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375" y="2996505"/>
            <a:ext cx="2898725" cy="525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>
                <a:solidFill>
                  <a:srgbClr val="25302A"/>
                </a:solidFill>
                <a:latin typeface="Noto Sans TC"/>
                <a:ea typeface="Noto Sans TC"/>
              </a:rPr>
              <a:t>內文 Noto Sans TC · 字級 72 / 40 / 22 / 14 · 行距 1.9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88225" y="1828800"/>
            <a:ext cx="2898874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 spc="225">
                <a:solidFill>
                  <a:srgbClr val="B0603A"/>
                </a:solidFill>
                <a:latin typeface="Noto Sans TC"/>
                <a:ea typeface="Noto Sans TC"/>
              </a:rPr>
              <a:t>底稿風格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88225" y="2105025"/>
            <a:ext cx="2898874" cy="4266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0">
                <a:solidFill>
                  <a:srgbClr val="3B5D45"/>
                </a:solidFill>
                <a:latin typeface="LXGW WenKai TC"/>
                <a:ea typeface="LXGW WenKai TC"/>
              </a:rPr>
              <a:t>紙本編輯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88225" y="2607915"/>
            <a:ext cx="2898874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>
                <a:solidFill>
                  <a:srgbClr val="25302A"/>
                </a:solidFill>
                <a:latin typeface="Noto Sans TC"/>
                <a:ea typeface="Noto Sans TC"/>
              </a:rPr>
              <a:t>淡紙紋＋頁眉細線與頁眉字；封面雜誌刊頭＋大照片；卡片用左側細線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52525" y="4131766"/>
            <a:ext cx="2898725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 spc="225">
                <a:solidFill>
                  <a:srgbClr val="B0603A"/>
                </a:solidFill>
                <a:latin typeface="Noto Sans TC"/>
                <a:ea typeface="Noto Sans TC"/>
              </a:rPr>
              <a:t>元件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2525" y="4788991"/>
            <a:ext cx="2898725" cy="525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>
                <a:solidFill>
                  <a:srgbClr val="25302A"/>
                </a:solidFill>
                <a:latin typeface="Noto Sans TC"/>
                <a:ea typeface="Noto Sans TC"/>
              </a:rPr>
              <a:t>Lucide icon 粗細 1.5 · 卡片圓角 0px · 頁碼右下 14px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70375" y="4131766"/>
            <a:ext cx="2898725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 spc="225">
                <a:solidFill>
                  <a:srgbClr val="B0603A"/>
                </a:solidFill>
                <a:latin typeface="Noto Sans TC"/>
                <a:ea typeface="Noto Sans TC"/>
              </a:rPr>
              <a:t>場景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70375" y="4407991"/>
            <a:ext cx="2898725" cy="28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>
                <a:solidFill>
                  <a:srgbClr val="25302A"/>
                </a:solidFill>
                <a:latin typeface="Noto Sans TC"/>
                <a:ea typeface="Noto Sans TC"/>
              </a:rPr>
              <a:t>品牌故事、作品集、選品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70375" y="4766071"/>
            <a:ext cx="2898725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>
                <a:solidFill>
                  <a:srgbClr val="25302A">
                    <a:alpha val="70000"/>
                  </a:srgbClr>
                </a:solidFill>
                <a:latin typeface="Noto Sans TC"/>
                <a:ea typeface="Noto Sans TC"/>
              </a:rPr>
              <a:t>留白大（頁邊 96px）· 每頁 ≤45 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88225" y="4131766"/>
            <a:ext cx="2898874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 spc="225">
                <a:solidFill>
                  <a:srgbClr val="B0603A"/>
                </a:solidFill>
                <a:latin typeface="Noto Sans TC"/>
                <a:ea typeface="Noto Sans TC"/>
              </a:rPr>
              <a:t>頁型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88225" y="4407991"/>
            <a:ext cx="552450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975" b="0">
                <a:solidFill>
                  <a:srgbClr val="3B5D45"/>
                </a:solidFill>
                <a:latin typeface="Noto Sans TC"/>
                <a:ea typeface="Noto Sans TC"/>
              </a:rPr>
              <a:t>封面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59725" y="4407991"/>
            <a:ext cx="676275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975" b="0">
                <a:solidFill>
                  <a:srgbClr val="3B5D45"/>
                </a:solidFill>
                <a:latin typeface="Noto Sans TC"/>
                <a:ea typeface="Noto Sans TC"/>
              </a:rPr>
              <a:t>章節頁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55050" y="4407991"/>
            <a:ext cx="800100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975" b="0">
                <a:solidFill>
                  <a:srgbClr val="3B5D45"/>
                </a:solidFill>
                <a:latin typeface="Noto Sans TC"/>
                <a:ea typeface="Noto Sans TC"/>
              </a:rPr>
              <a:t>三欄重點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74200" y="4407991"/>
            <a:ext cx="800100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975" b="0">
                <a:solidFill>
                  <a:srgbClr val="3B5D45"/>
                </a:solidFill>
                <a:latin typeface="Noto Sans TC"/>
                <a:ea typeface="Noto Sans TC"/>
              </a:rPr>
              <a:t>左文右圖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88225" y="4760416"/>
            <a:ext cx="923925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975" b="0">
                <a:solidFill>
                  <a:srgbClr val="3B5D45"/>
                </a:solidFill>
                <a:latin typeface="Noto Sans TC"/>
                <a:ea typeface="Noto Sans TC"/>
              </a:rPr>
              <a:t>一頁一數字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31200" y="4760416"/>
            <a:ext cx="676275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975" b="0">
                <a:solidFill>
                  <a:srgbClr val="3B5D45"/>
                </a:solidFill>
                <a:latin typeface="Noto Sans TC"/>
                <a:ea typeface="Noto Sans TC"/>
              </a:rPr>
              <a:t>章節頁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26525" y="4760416"/>
            <a:ext cx="800100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975" b="0">
                <a:solidFill>
                  <a:srgbClr val="3B5D45"/>
                </a:solidFill>
                <a:latin typeface="Noto Sans TC"/>
                <a:ea typeface="Noto Sans TC"/>
              </a:rPr>
              <a:t>步驟流程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88225" y="5112841"/>
            <a:ext cx="552450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975" b="0">
                <a:solidFill>
                  <a:srgbClr val="3B5D45"/>
                </a:solidFill>
                <a:latin typeface="Noto Sans TC"/>
                <a:ea typeface="Noto Sans TC"/>
              </a:rPr>
              <a:t>封底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29367" y="6362700"/>
            <a:ext cx="20538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3B5D45"/>
                </a:solidFill>
                <a:latin typeface="Noto Sans TC"/>
                <a:ea typeface="Noto Sans T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ature-1-b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324600" y="914400"/>
            <a:ext cx="4953000" cy="5029200"/>
          </a:xfrm>
          <a:prstGeom prst="rect">
            <a:avLst/>
          </a:prstGeom>
          <a:solidFill>
            <a:srgbClr val="3B5D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952500"/>
            <a:ext cx="4129385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50"/>
              </a:lnSpc>
            </a:pPr>
            <a:r>
              <a:rPr sz="2400" b="0" spc="839">
                <a:solidFill>
                  <a:srgbClr val="3B5D45"/>
                </a:solidFill>
                <a:latin typeface="LXGW WenKai TC"/>
                <a:ea typeface="LXGW WenKai TC"/>
              </a:rPr>
              <a:t>MOUNTAIN TRAIL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3400"/>
            <a:ext cx="1388417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 spc="179">
                <a:solidFill>
                  <a:srgbClr val="3B5D45"/>
                </a:solidFill>
                <a:latin typeface="Noto Sans TC"/>
                <a:ea typeface="Noto Sans TC"/>
              </a:rPr>
              <a:t>山徑選物 · 品牌故事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5970" y="533400"/>
            <a:ext cx="948779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50" b="0" spc="405">
                <a:solidFill>
                  <a:srgbClr val="3B5D45"/>
                </a:solidFill>
                <a:latin typeface="LXGW WenKai TC"/>
                <a:ea typeface="LXGW WenKai TC"/>
              </a:rPr>
              <a:t>山徑選物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29272"/>
            <a:ext cx="5010150" cy="327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sz="1200" b="0" spc="359">
                <a:solidFill>
                  <a:srgbClr val="B0603A"/>
                </a:solidFill>
                <a:latin typeface="Noto Sans TC"/>
                <a:ea typeface="Noto Sans TC"/>
              </a:rPr>
              <a:t>ISSUE 01 · MOUNTAIN TRAIL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09243"/>
            <a:ext cx="5010150" cy="16838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sz="5400" b="0">
                <a:solidFill>
                  <a:srgbClr val="3B5D45"/>
                </a:solidFill>
                <a:latin typeface="LXGW WenKai TC"/>
                <a:ea typeface="LXGW WenKai TC"/>
              </a:rPr>
              <a:t>山徑選物</a:t>
            </a:r>
          </a:p>
          <a:p>
            <a:pPr algn="l">
              <a:lnSpc>
                <a:spcPts val="6480"/>
              </a:lnSpc>
            </a:pPr>
            <a:r>
              <a:rPr sz="5400" b="0">
                <a:solidFill>
                  <a:srgbClr val="3B5D45"/>
                </a:solidFill>
                <a:latin typeface="LXGW WenKai TC"/>
                <a:ea typeface="LXGW WenKai TC"/>
              </a:rPr>
              <a:t>品牌故事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545484"/>
            <a:ext cx="5010150" cy="436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35"/>
              </a:lnSpc>
            </a:pPr>
            <a:r>
              <a:rPr sz="1650" b="0">
                <a:solidFill>
                  <a:srgbClr val="25302A"/>
                </a:solidFill>
                <a:latin typeface="Noto Sans TC"/>
                <a:ea typeface="Noto Sans TC"/>
              </a:rPr>
              <a:t>用得久的東西，才值得選。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5100" y="5562600"/>
            <a:ext cx="313015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F5F1E6"/>
                </a:solidFill>
                <a:latin typeface="Noto Sans TC"/>
                <a:ea typeface="Noto Sans TC"/>
              </a:rPr>
              <a:t>照片佔位：搜尋 ceramic cup on wood natural 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9367" y="6362700"/>
            <a:ext cx="20538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3B5D45"/>
                </a:solidFill>
                <a:latin typeface="Noto Sans TC"/>
                <a:ea typeface="Noto Sans T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ature-1-b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85970" y="533400"/>
            <a:ext cx="948779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50" b="0" spc="405">
                <a:solidFill>
                  <a:srgbClr val="3B5D45"/>
                </a:solidFill>
                <a:latin typeface="LXGW WenKai TC"/>
                <a:ea typeface="LXGW WenKai TC"/>
              </a:rPr>
              <a:t>山徑選物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72630"/>
            <a:ext cx="10420350" cy="1181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0"/>
              </a:lnSpc>
            </a:pPr>
            <a:r>
              <a:rPr sz="9000" b="0">
                <a:solidFill>
                  <a:srgbClr val="3B5D45">
                    <a:alpha val="35000"/>
                  </a:srgbClr>
                </a:solidFill>
                <a:latin typeface="LXGW WenKai TC"/>
                <a:ea typeface="LXGW WenKai T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91830"/>
            <a:ext cx="10420350" cy="731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459"/>
              </a:lnSpc>
            </a:pPr>
            <a:r>
              <a:rPr sz="4200" b="0">
                <a:solidFill>
                  <a:srgbClr val="3B5D45"/>
                </a:solidFill>
                <a:latin typeface="LXGW WenKai TC"/>
                <a:ea typeface="LXGW WenKai TC"/>
              </a:rPr>
              <a:t>選品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29367" y="6362700"/>
            <a:ext cx="20538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3B5D45"/>
                </a:solidFill>
                <a:latin typeface="Noto Sans TC"/>
                <a:ea typeface="Noto Sans T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ature-1-b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2810767"/>
            <a:ext cx="3200400" cy="19602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914400" y="2810767"/>
            <a:ext cx="0" cy="1960216"/>
          </a:xfrm>
          <a:prstGeom prst="line">
            <a:avLst/>
          </a:prstGeom>
          <a:ln w="9525">
            <a:solidFill>
              <a:srgbClr val="3B5D45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495800" y="2810767"/>
            <a:ext cx="3200400" cy="19602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4495800" y="2810767"/>
            <a:ext cx="0" cy="1960216"/>
          </a:xfrm>
          <a:prstGeom prst="line">
            <a:avLst/>
          </a:prstGeom>
          <a:ln w="9525">
            <a:solidFill>
              <a:srgbClr val="3B5D45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077200" y="2810767"/>
            <a:ext cx="3200400" cy="19602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8" name="Connector 7"/>
          <p:cNvCxnSpPr/>
          <p:nvPr/>
        </p:nvCxnSpPr>
        <p:spPr>
          <a:xfrm>
            <a:off x="8077200" y="2810767"/>
            <a:ext cx="0" cy="1960216"/>
          </a:xfrm>
          <a:prstGeom prst="line">
            <a:avLst/>
          </a:prstGeom>
          <a:ln w="9525">
            <a:solidFill>
              <a:srgbClr val="3B5D45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icon-leaf-848b7db1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525" y="3115567"/>
            <a:ext cx="381000" cy="381000"/>
          </a:xfrm>
          <a:prstGeom prst="rect">
            <a:avLst/>
          </a:prstGeom>
        </p:spPr>
      </p:pic>
      <p:pic>
        <p:nvPicPr>
          <p:cNvPr id="10" name="Picture 9" descr="icon-users-d6ff8fc0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3925" y="3115567"/>
            <a:ext cx="381000" cy="381000"/>
          </a:xfrm>
          <a:prstGeom prst="rect">
            <a:avLst/>
          </a:prstGeom>
        </p:spPr>
      </p:pic>
      <p:pic>
        <p:nvPicPr>
          <p:cNvPr id="11" name="Picture 10" descr="icon-compass-4949d4dd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5325" y="3115567"/>
            <a:ext cx="381000" cy="381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533400"/>
            <a:ext cx="1388417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 spc="179">
                <a:solidFill>
                  <a:srgbClr val="3B5D45"/>
                </a:solidFill>
                <a:latin typeface="Noto Sans TC"/>
                <a:ea typeface="Noto Sans TC"/>
              </a:rPr>
              <a:t>山徑選物 · 品牌故事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5970" y="533400"/>
            <a:ext cx="948779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50" b="0" spc="405">
                <a:solidFill>
                  <a:srgbClr val="3B5D45"/>
                </a:solidFill>
                <a:latin typeface="LXGW WenKai TC"/>
                <a:ea typeface="LXGW WenKai TC"/>
              </a:rPr>
              <a:t>山徑選物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914400"/>
            <a:ext cx="10420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0">
                <a:solidFill>
                  <a:srgbClr val="3B5D45"/>
                </a:solidFill>
                <a:latin typeface="LXGW WenKai TC"/>
                <a:ea typeface="LXGW WenKai TC"/>
              </a:rPr>
              <a:t>三件事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525" y="3687067"/>
            <a:ext cx="271462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650" b="0">
                <a:solidFill>
                  <a:srgbClr val="3B5D45"/>
                </a:solidFill>
                <a:latin typeface="Noto Sans TC"/>
                <a:ea typeface="Noto Sans TC"/>
              </a:rPr>
              <a:t>只選用得久的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525" y="4068067"/>
            <a:ext cx="2714625" cy="436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35"/>
              </a:lnSpc>
            </a:pPr>
            <a:r>
              <a:rPr sz="1650" b="0">
                <a:solidFill>
                  <a:srgbClr val="25302A"/>
                </a:solidFill>
                <a:latin typeface="Noto Sans TC"/>
                <a:ea typeface="Noto Sans TC"/>
              </a:rPr>
              <a:t>不做一季就丟的東西。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3925" y="3687067"/>
            <a:ext cx="271462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650" b="0">
                <a:solidFill>
                  <a:srgbClr val="3B5D45"/>
                </a:solidFill>
                <a:latin typeface="Noto Sans TC"/>
                <a:ea typeface="Noto Sans TC"/>
              </a:rPr>
              <a:t>跟工坊直接合作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3925" y="4068067"/>
            <a:ext cx="2714625" cy="436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35"/>
              </a:lnSpc>
            </a:pPr>
            <a:r>
              <a:rPr sz="1650" b="0">
                <a:solidFill>
                  <a:srgbClr val="25302A"/>
                </a:solidFill>
                <a:latin typeface="Noto Sans TC"/>
                <a:ea typeface="Noto Sans TC"/>
              </a:rPr>
              <a:t>沒有中間商。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5325" y="3687067"/>
            <a:ext cx="271462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650" b="0">
                <a:solidFill>
                  <a:srgbClr val="3B5D45"/>
                </a:solidFill>
                <a:latin typeface="Noto Sans TC"/>
                <a:ea typeface="Noto Sans TC"/>
              </a:rPr>
              <a:t>每件都有來處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5325" y="4068067"/>
            <a:ext cx="2714625" cy="436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35"/>
              </a:lnSpc>
            </a:pPr>
            <a:r>
              <a:rPr sz="1650" b="0">
                <a:solidFill>
                  <a:srgbClr val="25302A"/>
                </a:solidFill>
                <a:latin typeface="Noto Sans TC"/>
                <a:ea typeface="Noto Sans TC"/>
              </a:rPr>
              <a:t>誰做的，哪裡做的。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29367" y="6362700"/>
            <a:ext cx="20538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3B5D45"/>
                </a:solidFill>
                <a:latin typeface="Noto Sans TC"/>
                <a:ea typeface="Noto Sans T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ature-1-b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362700" y="1947862"/>
            <a:ext cx="4914900" cy="3686175"/>
          </a:xfrm>
          <a:prstGeom prst="rect">
            <a:avLst/>
          </a:prstGeom>
          <a:solidFill>
            <a:srgbClr val="3B5D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533400"/>
            <a:ext cx="1388417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 spc="179">
                <a:solidFill>
                  <a:srgbClr val="3B5D45"/>
                </a:solidFill>
                <a:latin typeface="Noto Sans TC"/>
                <a:ea typeface="Noto Sans TC"/>
              </a:rPr>
              <a:t>山徑選物 · 品牌故事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5970" y="533400"/>
            <a:ext cx="948779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50" b="0" spc="405">
                <a:solidFill>
                  <a:srgbClr val="3B5D45"/>
                </a:solidFill>
                <a:latin typeface="LXGW WenKai TC"/>
                <a:ea typeface="LXGW WenKai TC"/>
              </a:rPr>
              <a:t>山徑選物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914400"/>
            <a:ext cx="10420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0">
                <a:solidFill>
                  <a:srgbClr val="3B5D45"/>
                </a:solidFill>
                <a:latin typeface="LXGW WenKai TC"/>
                <a:ea typeface="LXGW WenKai TC"/>
              </a:rPr>
              <a:t>一只杯子的來處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4127"/>
            <a:ext cx="4972050" cy="7029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35"/>
              </a:lnSpc>
            </a:pPr>
            <a:r>
              <a:rPr sz="1650" b="0">
                <a:solidFill>
                  <a:srgbClr val="25302A"/>
                </a:solidFill>
                <a:latin typeface="Noto Sans TC"/>
                <a:ea typeface="Noto Sans TC"/>
              </a:rPr>
              <a:t>苗栗的柴燒窯，一年開四次。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48942"/>
            <a:ext cx="4972050" cy="71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35"/>
              </a:lnSpc>
            </a:pPr>
            <a:r>
              <a:rPr sz="1650" b="0">
                <a:solidFill>
                  <a:srgbClr val="25302A"/>
                </a:solidFill>
                <a:latin typeface="Noto Sans TC"/>
                <a:ea typeface="Noto Sans TC"/>
              </a:rPr>
              <a:t>燒壞的不賣，賣的都能用十年。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23283"/>
            <a:ext cx="4972050" cy="71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35"/>
              </a:lnSpc>
            </a:pPr>
            <a:r>
              <a:rPr sz="1650" b="0">
                <a:solidFill>
                  <a:srgbClr val="25302A"/>
                </a:solidFill>
                <a:latin typeface="Noto Sans TC"/>
                <a:ea typeface="Noto Sans TC"/>
              </a:rPr>
              <a:t>杯底刻工坊的名字。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200" y="5253037"/>
            <a:ext cx="313015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F5F1E6"/>
                </a:solidFill>
                <a:latin typeface="Noto Sans TC"/>
                <a:ea typeface="Noto Sans TC"/>
              </a:rPr>
              <a:t>照片佔位：搜尋 ceramic cup on wood natural 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9367" y="6362700"/>
            <a:ext cx="20538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3B5D45"/>
                </a:solidFill>
                <a:latin typeface="Noto Sans TC"/>
                <a:ea typeface="Noto Sans T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ature-1-b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33400"/>
            <a:ext cx="1388417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 spc="179">
                <a:solidFill>
                  <a:srgbClr val="3B5D45"/>
                </a:solidFill>
                <a:latin typeface="Noto Sans TC"/>
                <a:ea typeface="Noto Sans TC"/>
              </a:rPr>
              <a:t>山徑選物 · 品牌故事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5970" y="533400"/>
            <a:ext cx="948779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50" b="0" spc="405">
                <a:solidFill>
                  <a:srgbClr val="3B5D45"/>
                </a:solidFill>
                <a:latin typeface="LXGW WenKai TC"/>
                <a:ea typeface="LXGW WenKai TC"/>
              </a:rPr>
              <a:t>山徑選物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2115"/>
            <a:ext cx="10420350" cy="194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0"/>
              </a:lnSpc>
            </a:pPr>
            <a:r>
              <a:rPr sz="15000" b="0">
                <a:solidFill>
                  <a:srgbClr val="B0603A"/>
                </a:solidFill>
                <a:latin typeface="LXGW WenKai TC"/>
                <a:ea typeface="LXGW WenKai TC"/>
              </a:rPr>
              <a:t>27 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55715"/>
            <a:ext cx="6153150" cy="436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35"/>
              </a:lnSpc>
            </a:pPr>
            <a:r>
              <a:rPr sz="1650" b="0">
                <a:solidFill>
                  <a:srgbClr val="25302A"/>
                </a:solidFill>
                <a:latin typeface="Noto Sans TC"/>
                <a:ea typeface="Noto Sans TC"/>
              </a:rPr>
              <a:t>長期合作的小工坊。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682430"/>
            <a:ext cx="6153150" cy="291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95"/>
              </a:lnSpc>
            </a:pPr>
            <a:r>
              <a:rPr sz="1050" b="0">
                <a:solidFill>
                  <a:srgbClr val="3B5D45">
                    <a:alpha val="85000"/>
                  </a:srgbClr>
                </a:solidFill>
                <a:latin typeface="Noto Sans TC"/>
                <a:ea typeface="Noto Sans TC"/>
              </a:rPr>
              <a:t>示意數字，換成你的。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9367" y="6362700"/>
            <a:ext cx="20538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3B5D45"/>
                </a:solidFill>
                <a:latin typeface="Noto Sans TC"/>
                <a:ea typeface="Noto Sans T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ature-1-b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85970" y="533400"/>
            <a:ext cx="948779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50" b="0" spc="405">
                <a:solidFill>
                  <a:srgbClr val="3B5D45"/>
                </a:solidFill>
                <a:latin typeface="LXGW WenKai TC"/>
                <a:ea typeface="LXGW WenKai TC"/>
              </a:rPr>
              <a:t>山徑選物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72630"/>
            <a:ext cx="10420350" cy="1181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0"/>
              </a:lnSpc>
            </a:pPr>
            <a:r>
              <a:rPr sz="9000" b="0">
                <a:solidFill>
                  <a:srgbClr val="3B5D45">
                    <a:alpha val="35000"/>
                  </a:srgbClr>
                </a:solidFill>
                <a:latin typeface="LXGW WenKai TC"/>
                <a:ea typeface="LXGW WenKai TC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91830"/>
            <a:ext cx="10420350" cy="731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459"/>
              </a:lnSpc>
            </a:pPr>
            <a:r>
              <a:rPr sz="4200" b="0">
                <a:solidFill>
                  <a:srgbClr val="3B5D45"/>
                </a:solidFill>
                <a:latin typeface="LXGW WenKai TC"/>
                <a:ea typeface="LXGW WenKai TC"/>
              </a:rPr>
              <a:t>合作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29367" y="6362700"/>
            <a:ext cx="20538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3B5D45"/>
                </a:solidFill>
                <a:latin typeface="Noto Sans TC"/>
                <a:ea typeface="Noto Sans T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ature-1-b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2886967"/>
            <a:ext cx="3200400" cy="18078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914400" y="2886967"/>
            <a:ext cx="0" cy="1807816"/>
          </a:xfrm>
          <a:prstGeom prst="line">
            <a:avLst/>
          </a:prstGeom>
          <a:ln w="9525">
            <a:solidFill>
              <a:srgbClr val="3B5D45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495800" y="2886967"/>
            <a:ext cx="3200400" cy="18078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4495800" y="2886967"/>
            <a:ext cx="0" cy="1807816"/>
          </a:xfrm>
          <a:prstGeom prst="line">
            <a:avLst/>
          </a:prstGeom>
          <a:ln w="9525">
            <a:solidFill>
              <a:srgbClr val="3B5D45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077200" y="2886967"/>
            <a:ext cx="3200400" cy="18078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8" name="Connector 7"/>
          <p:cNvCxnSpPr/>
          <p:nvPr/>
        </p:nvCxnSpPr>
        <p:spPr>
          <a:xfrm>
            <a:off x="8077200" y="2886967"/>
            <a:ext cx="0" cy="1807816"/>
          </a:xfrm>
          <a:prstGeom prst="line">
            <a:avLst/>
          </a:prstGeom>
          <a:ln w="9525">
            <a:solidFill>
              <a:srgbClr val="3B5D45">
                <a:alpha val="5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533400"/>
            <a:ext cx="1388417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 spc="179">
                <a:solidFill>
                  <a:srgbClr val="3B5D45"/>
                </a:solidFill>
                <a:latin typeface="Noto Sans TC"/>
                <a:ea typeface="Noto Sans TC"/>
              </a:rPr>
              <a:t>山徑選物 · 品牌故事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5970" y="533400"/>
            <a:ext cx="948779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50" b="0" spc="405">
                <a:solidFill>
                  <a:srgbClr val="3B5D45"/>
                </a:solidFill>
                <a:latin typeface="LXGW WenKai TC"/>
                <a:ea typeface="LXGW WenKai TC"/>
              </a:rPr>
              <a:t>山徑選物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914400"/>
            <a:ext cx="10420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0">
                <a:solidFill>
                  <a:srgbClr val="3B5D45"/>
                </a:solidFill>
                <a:latin typeface="LXGW WenKai TC"/>
                <a:ea typeface="LXGW WenKai TC"/>
              </a:rPr>
              <a:t>三步開始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525" y="3153667"/>
            <a:ext cx="27146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3000" b="0">
                <a:solidFill>
                  <a:srgbClr val="B0603A"/>
                </a:solidFill>
                <a:latin typeface="LXGW WenKai TC"/>
                <a:ea typeface="LXGW WenKai TC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525" y="3668017"/>
            <a:ext cx="271462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650" b="0">
                <a:solidFill>
                  <a:srgbClr val="3B5D45"/>
                </a:solidFill>
                <a:latin typeface="Noto Sans TC"/>
                <a:ea typeface="Noto Sans TC"/>
              </a:rPr>
              <a:t>看樣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525" y="4029967"/>
            <a:ext cx="2714625" cy="436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35"/>
              </a:lnSpc>
            </a:pPr>
            <a:r>
              <a:rPr sz="1650" b="0">
                <a:solidFill>
                  <a:srgbClr val="25302A"/>
                </a:solidFill>
                <a:latin typeface="Noto Sans TC"/>
                <a:ea typeface="Noto Sans TC"/>
              </a:rPr>
              <a:t>先寄三件到店裡。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3925" y="3153667"/>
            <a:ext cx="27146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3000" b="0">
                <a:solidFill>
                  <a:srgbClr val="B0603A"/>
                </a:solidFill>
                <a:latin typeface="LXGW WenKai TC"/>
                <a:ea typeface="LXGW WenKai T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3925" y="3668017"/>
            <a:ext cx="271462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650" b="0">
                <a:solidFill>
                  <a:srgbClr val="3B5D45"/>
                </a:solidFill>
                <a:latin typeface="Noto Sans TC"/>
                <a:ea typeface="Noto Sans TC"/>
              </a:rPr>
              <a:t>選件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3925" y="4029967"/>
            <a:ext cx="2714625" cy="436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35"/>
              </a:lnSpc>
            </a:pPr>
            <a:r>
              <a:rPr sz="1650" b="0">
                <a:solidFill>
                  <a:srgbClr val="25302A"/>
                </a:solidFill>
                <a:latin typeface="Noto Sans TC"/>
                <a:ea typeface="Noto Sans TC"/>
              </a:rPr>
              <a:t>挑跟你的空間合的。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5325" y="3153667"/>
            <a:ext cx="2714625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3000" b="0">
                <a:solidFill>
                  <a:srgbClr val="B0603A"/>
                </a:solidFill>
                <a:latin typeface="LXGW WenKai TC"/>
                <a:ea typeface="LXGW WenKai T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5325" y="3668017"/>
            <a:ext cx="271462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650" b="0">
                <a:solidFill>
                  <a:srgbClr val="3B5D45"/>
                </a:solidFill>
                <a:latin typeface="Noto Sans TC"/>
                <a:ea typeface="Noto Sans TC"/>
              </a:rPr>
              <a:t>上架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5325" y="4029967"/>
            <a:ext cx="2714625" cy="436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35"/>
              </a:lnSpc>
            </a:pPr>
            <a:r>
              <a:rPr sz="1650" b="0">
                <a:solidFill>
                  <a:srgbClr val="25302A"/>
                </a:solidFill>
                <a:latin typeface="Noto Sans TC"/>
                <a:ea typeface="Noto Sans TC"/>
              </a:rPr>
              <a:t>寄售或買斷，你選。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29367" y="6362700"/>
            <a:ext cx="20538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3B5D45"/>
                </a:solidFill>
                <a:latin typeface="Noto Sans TC"/>
                <a:ea typeface="Noto Sans T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ature-1-b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533400"/>
            <a:ext cx="1388417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 spc="179">
                <a:solidFill>
                  <a:srgbClr val="3B5D45"/>
                </a:solidFill>
                <a:latin typeface="Noto Sans TC"/>
                <a:ea typeface="Noto Sans TC"/>
              </a:rPr>
              <a:t>山徑選物 · 品牌故事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5970" y="533400"/>
            <a:ext cx="948779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350" b="0" spc="405">
                <a:solidFill>
                  <a:srgbClr val="3B5D45"/>
                </a:solidFill>
                <a:latin typeface="LXGW WenKai TC"/>
                <a:ea typeface="LXGW WenKai TC"/>
              </a:rPr>
              <a:t>山徑選物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29817"/>
            <a:ext cx="10420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0">
                <a:solidFill>
                  <a:srgbClr val="3B5D45"/>
                </a:solidFill>
                <a:latin typeface="LXGW WenKai TC"/>
                <a:ea typeface="LXGW WenKai TC"/>
              </a:rPr>
              <a:t>慢慢選，慢慢用。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29917"/>
            <a:ext cx="10420350" cy="436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35"/>
              </a:lnSpc>
            </a:pPr>
            <a:r>
              <a:rPr sz="1650" b="0">
                <a:solidFill>
                  <a:srgbClr val="3B5D45"/>
                </a:solidFill>
                <a:latin typeface="Noto Sans TC"/>
                <a:ea typeface="Noto Sans TC"/>
              </a:rPr>
              <a:t>hello@mountaintrail.example（示意，換成你的）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9367" y="6362700"/>
            <a:ext cx="20538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3B5D45"/>
                </a:solidFill>
                <a:latin typeface="Noto Sans TC"/>
                <a:ea typeface="Noto Sans TC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