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200" y="1524000"/>
            <a:ext cx="3378100" cy="2152650"/>
          </a:xfrm>
          <a:prstGeom prst="rect">
            <a:avLst/>
          </a:prstGeom>
          <a:solidFill>
            <a:srgbClr val="FFFFFF">
              <a:alpha val="50000"/>
            </a:srgbClr>
          </a:solidFill>
          <a:ln w="9525">
            <a:solidFill>
              <a:srgbClr val="1E2F4D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95375" y="2038350"/>
            <a:ext cx="609600" cy="419100"/>
          </a:xfrm>
          <a:prstGeom prst="rect">
            <a:avLst/>
          </a:prstGeom>
          <a:solidFill>
            <a:srgbClr val="1E2F4D"/>
          </a:solidFill>
          <a:ln w="9525">
            <a:solidFill>
              <a:srgbClr val="1E2F4D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800225" y="2038350"/>
            <a:ext cx="609600" cy="419100"/>
          </a:xfrm>
          <a:prstGeom prst="rect">
            <a:avLst/>
          </a:prstGeom>
          <a:solidFill>
            <a:srgbClr val="F4F1EA"/>
          </a:solidFill>
          <a:ln w="9525">
            <a:solidFill>
              <a:srgbClr val="1E2F4D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2505075" y="2038350"/>
            <a:ext cx="609600" cy="419100"/>
          </a:xfrm>
          <a:prstGeom prst="rect">
            <a:avLst/>
          </a:prstGeom>
          <a:solidFill>
            <a:srgbClr val="1E2230"/>
          </a:solidFill>
          <a:ln w="9525">
            <a:solidFill>
              <a:srgbClr val="1E2F4D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209925" y="2038350"/>
            <a:ext cx="609600" cy="419100"/>
          </a:xfrm>
          <a:prstGeom prst="rect">
            <a:avLst/>
          </a:prstGeom>
          <a:solidFill>
            <a:srgbClr val="C2703D"/>
          </a:solidFill>
          <a:ln w="9525">
            <a:solidFill>
              <a:srgbClr val="1E2F4D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406800" y="1524000"/>
            <a:ext cx="3378249" cy="2152650"/>
          </a:xfrm>
          <a:prstGeom prst="rect">
            <a:avLst/>
          </a:prstGeom>
          <a:solidFill>
            <a:srgbClr val="FFFFFF">
              <a:alpha val="50000"/>
            </a:srgbClr>
          </a:solidFill>
          <a:ln w="9525">
            <a:solidFill>
              <a:srgbClr val="1E2F4D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975550" y="1524000"/>
            <a:ext cx="3378100" cy="2152650"/>
          </a:xfrm>
          <a:prstGeom prst="rect">
            <a:avLst/>
          </a:prstGeom>
          <a:solidFill>
            <a:srgbClr val="FFFFFF">
              <a:alpha val="50000"/>
            </a:srgbClr>
          </a:solidFill>
          <a:ln w="9525">
            <a:solidFill>
              <a:srgbClr val="1E2F4D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838200" y="3867150"/>
            <a:ext cx="3378100" cy="2152650"/>
          </a:xfrm>
          <a:prstGeom prst="rect">
            <a:avLst/>
          </a:prstGeom>
          <a:solidFill>
            <a:srgbClr val="FFFFFF">
              <a:alpha val="50000"/>
            </a:srgbClr>
          </a:solidFill>
          <a:ln w="9525">
            <a:solidFill>
              <a:srgbClr val="1E2F4D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06800" y="3867150"/>
            <a:ext cx="3378249" cy="2152650"/>
          </a:xfrm>
          <a:prstGeom prst="rect">
            <a:avLst/>
          </a:prstGeom>
          <a:solidFill>
            <a:srgbClr val="FFFFFF">
              <a:alpha val="50000"/>
            </a:srgbClr>
          </a:solidFill>
          <a:ln w="9525">
            <a:solidFill>
              <a:srgbClr val="1E2F4D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975550" y="3867150"/>
            <a:ext cx="3378100" cy="2152650"/>
          </a:xfrm>
          <a:prstGeom prst="rect">
            <a:avLst/>
          </a:prstGeom>
          <a:solidFill>
            <a:srgbClr val="FFFFFF">
              <a:alpha val="50000"/>
            </a:srgbClr>
          </a:solidFill>
          <a:ln w="9525">
            <a:solidFill>
              <a:srgbClr val="1E2F4D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232725" y="4381500"/>
            <a:ext cx="49530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F4D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804225" y="4381500"/>
            <a:ext cx="619125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F4D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499550" y="4381500"/>
            <a:ext cx="74295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F4D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0318700" y="4381500"/>
            <a:ext cx="74295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F4D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232725" y="4733925"/>
            <a:ext cx="866775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F4D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175700" y="4733925"/>
            <a:ext cx="619125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F4D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9871025" y="4733925"/>
            <a:ext cx="74295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F4D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232725" y="5086350"/>
            <a:ext cx="49530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F4D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icon-compass-4b4dc61c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4381500"/>
            <a:ext cx="266700" cy="266700"/>
          </a:xfrm>
          <a:prstGeom prst="rect">
            <a:avLst/>
          </a:prstGeom>
        </p:spPr>
      </p:pic>
      <p:pic>
        <p:nvPicPr>
          <p:cNvPr id="22" name="Picture 21" descr="icon-users-811ef0bc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475" y="4381500"/>
            <a:ext cx="266700" cy="266700"/>
          </a:xfrm>
          <a:prstGeom prst="rect">
            <a:avLst/>
          </a:prstGeom>
        </p:spPr>
      </p:pic>
      <p:pic>
        <p:nvPicPr>
          <p:cNvPr id="23" name="Picture 22" descr="icon-target-2653743cf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3575" y="4381500"/>
            <a:ext cx="266700" cy="266700"/>
          </a:xfrm>
          <a:prstGeom prst="rect">
            <a:avLst/>
          </a:prstGeom>
        </p:spPr>
      </p:pic>
      <p:pic>
        <p:nvPicPr>
          <p:cNvPr id="24" name="Picture 23" descr="icon-compass-4b4dc61c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675" y="4381500"/>
            <a:ext cx="266700" cy="2667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462170" y="457200"/>
            <a:ext cx="9487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1E2F4D"/>
                </a:solidFill>
                <a:latin typeface="Noto Serif TC"/>
                <a:ea typeface="Noto Serif TC"/>
              </a:rPr>
              <a:t>北辰顧問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838200"/>
            <a:ext cx="10572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>
                <a:solidFill>
                  <a:srgbClr val="1E2F4D"/>
                </a:solidFill>
                <a:latin typeface="Noto Serif TC"/>
                <a:ea typeface="Noto Serif TC"/>
              </a:rPr>
              <a:t>Design System · 簡潔提案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5375" y="1762125"/>
            <a:ext cx="2920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C2703D"/>
                </a:solidFill>
                <a:latin typeface="Noto Sans TC"/>
                <a:ea typeface="Noto Sans TC"/>
              </a:rPr>
              <a:t>色票 60-30-10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375" y="2495550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1E2230">
                    <a:alpha val="80000"/>
                  </a:srgbClr>
                </a:solidFill>
                <a:latin typeface="ui-monospace"/>
                <a:ea typeface="ui-monospace"/>
              </a:rPr>
              <a:t>#1E2F4D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00225" y="2495550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1E2230">
                    <a:alpha val="80000"/>
                  </a:srgbClr>
                </a:solidFill>
                <a:latin typeface="ui-monospace"/>
                <a:ea typeface="ui-monospace"/>
              </a:rPr>
              <a:t>#F4F1EA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05075" y="2495550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1E2230">
                    <a:alpha val="80000"/>
                  </a:srgbClr>
                </a:solidFill>
                <a:latin typeface="ui-monospace"/>
                <a:ea typeface="ui-monospace"/>
              </a:rPr>
              <a:t>#1E2230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9925" y="2495550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1E2230">
                    <a:alpha val="80000"/>
                  </a:srgbClr>
                </a:solidFill>
                <a:latin typeface="ui-monospace"/>
                <a:ea typeface="ui-monospace"/>
              </a:rPr>
              <a:t>#C2703D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5375" y="2733675"/>
            <a:ext cx="2920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>
                <a:solidFill>
                  <a:srgbClr val="1E2230">
                    <a:alpha val="70000"/>
                  </a:srgbClr>
                </a:solidFill>
                <a:latin typeface="Noto Sans TC"/>
                <a:ea typeface="Noto Sans TC"/>
              </a:rPr>
              <a:t>主色 · 背景 · 文字 · 強調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975" y="1762125"/>
            <a:ext cx="292104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C2703D"/>
                </a:solidFill>
                <a:latin typeface="Noto Sans TC"/>
                <a:ea typeface="Noto Sans TC"/>
              </a:rPr>
              <a:t>字型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975" y="2038350"/>
            <a:ext cx="2921049" cy="81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>
                <a:solidFill>
                  <a:srgbClr val="1E2F4D"/>
                </a:solidFill>
                <a:latin typeface="Noto Serif TC"/>
                <a:ea typeface="Noto Serif TC"/>
              </a:rPr>
              <a:t>標題 Noto Serif TC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975" y="2929830"/>
            <a:ext cx="2921049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1E2230"/>
                </a:solidFill>
                <a:latin typeface="Noto Sans TC"/>
                <a:ea typeface="Noto Sans TC"/>
              </a:rPr>
              <a:t>內文 Noto Sans TC · 字級 72 / 40 / 22 / 14 · 行距 1.7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32725" y="1762125"/>
            <a:ext cx="2920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C2703D"/>
                </a:solidFill>
                <a:latin typeface="Noto Sans TC"/>
                <a:ea typeface="Noto Sans TC"/>
              </a:rPr>
              <a:t>底稿風格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32725" y="2038350"/>
            <a:ext cx="2920900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>
                <a:solidFill>
                  <a:srgbClr val="1E2F4D"/>
                </a:solidFill>
                <a:latin typeface="Noto Serif TC"/>
                <a:ea typeface="Noto Serif TC"/>
              </a:rPr>
              <a:t>角標細線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32725" y="2541240"/>
            <a:ext cx="29209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>
                <a:solidFill>
                  <a:srgbClr val="1E2230"/>
                </a:solidFill>
                <a:latin typeface="Noto Sans TC"/>
                <a:ea typeface="Noto Sans TC"/>
              </a:rPr>
              <a:t>左上右下角標＋右側直帶（封面），卡片只用上緣細線，不加框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5375" y="4105275"/>
            <a:ext cx="2920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C2703D"/>
                </a:solidFill>
                <a:latin typeface="Noto Sans TC"/>
                <a:ea typeface="Noto Sans TC"/>
              </a:rPr>
              <a:t>元件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5375" y="4762500"/>
            <a:ext cx="2920900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1E2230"/>
                </a:solidFill>
                <a:latin typeface="Noto Sans TC"/>
                <a:ea typeface="Noto Sans TC"/>
              </a:rPr>
              <a:t>Lucide icon 粗細 1.5 · 卡片圓角 0px · 頁碼右下 14px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975" y="4105275"/>
            <a:ext cx="292104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C2703D"/>
                </a:solidFill>
                <a:latin typeface="Noto Sans TC"/>
                <a:ea typeface="Noto Sans TC"/>
              </a:rPr>
              <a:t>場景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975" y="4381500"/>
            <a:ext cx="2921049" cy="28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1E2230"/>
                </a:solidFill>
                <a:latin typeface="Noto Sans TC"/>
                <a:ea typeface="Noto Sans TC"/>
              </a:rPr>
              <a:t>企業提案、業務簡報、季度報告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975" y="4739580"/>
            <a:ext cx="292104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>
                <a:solidFill>
                  <a:srgbClr val="1E2230">
                    <a:alpha val="70000"/>
                  </a:srgbClr>
                </a:solidFill>
                <a:latin typeface="Noto Sans TC"/>
                <a:ea typeface="Noto Sans TC"/>
              </a:rPr>
              <a:t>留白適中（頁邊 88px）· 每頁 ≤70 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32725" y="4105275"/>
            <a:ext cx="2920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C2703D"/>
                </a:solidFill>
                <a:latin typeface="Noto Sans TC"/>
                <a:ea typeface="Noto Sans TC"/>
              </a:rPr>
              <a:t>頁型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32725" y="4381500"/>
            <a:ext cx="5524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1E2F4D"/>
                </a:solidFill>
                <a:latin typeface="Noto Sans TC"/>
                <a:ea typeface="Noto Sans TC"/>
              </a:rPr>
              <a:t>封面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04225" y="4381500"/>
            <a:ext cx="6762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1E2F4D"/>
                </a:solidFill>
                <a:latin typeface="Noto Sans TC"/>
                <a:ea typeface="Noto Sans TC"/>
              </a:rPr>
              <a:t>章節頁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9550" y="4381500"/>
            <a:ext cx="800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1E2F4D"/>
                </a:solidFill>
                <a:latin typeface="Noto Sans TC"/>
                <a:ea typeface="Noto Sans TC"/>
              </a:rPr>
              <a:t>三欄重點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18700" y="4381500"/>
            <a:ext cx="800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1E2F4D"/>
                </a:solidFill>
                <a:latin typeface="Noto Sans TC"/>
                <a:ea typeface="Noto Sans TC"/>
              </a:rPr>
              <a:t>左文右圖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32725" y="4733925"/>
            <a:ext cx="9239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1E2F4D"/>
                </a:solidFill>
                <a:latin typeface="Noto Sans TC"/>
                <a:ea typeface="Noto Sans TC"/>
              </a:rPr>
              <a:t>一頁一數字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75700" y="4733925"/>
            <a:ext cx="6762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1E2F4D"/>
                </a:solidFill>
                <a:latin typeface="Noto Sans TC"/>
                <a:ea typeface="Noto Sans TC"/>
              </a:rPr>
              <a:t>章節頁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1025" y="4733925"/>
            <a:ext cx="800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1E2F4D"/>
                </a:solidFill>
                <a:latin typeface="Noto Sans TC"/>
                <a:ea typeface="Noto Sans TC"/>
              </a:rPr>
              <a:t>步驟流程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32725" y="5086350"/>
            <a:ext cx="5524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1E2F4D"/>
                </a:solidFill>
                <a:latin typeface="Noto Sans TC"/>
                <a:ea typeface="Noto Sans TC"/>
              </a:rPr>
              <a:t>封底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055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E2F4D"/>
                </a:solidFill>
                <a:latin typeface="Noto Sans TC"/>
                <a:ea typeface="Noto Sans T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2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200" y="2968376"/>
            <a:ext cx="10515600" cy="305142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462170" y="457200"/>
            <a:ext cx="9487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F4F1EA"/>
                </a:solidFill>
                <a:latin typeface="Noto Serif TC"/>
                <a:ea typeface="Noto Serif TC"/>
              </a:rPr>
              <a:t>北辰顧問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968376"/>
            <a:ext cx="10572750" cy="29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00" b="0" spc="359">
                <a:solidFill>
                  <a:srgbClr val="C2703D"/>
                </a:solidFill>
                <a:latin typeface="Noto Sans TC"/>
                <a:ea typeface="Noto Sans TC"/>
              </a:rPr>
              <a:t>POLARIS ADVISORY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417837"/>
            <a:ext cx="10572750" cy="1683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sz="5400" b="1">
                <a:solidFill>
                  <a:srgbClr val="1E2F4D"/>
                </a:solidFill>
                <a:latin typeface="Noto Serif TC"/>
                <a:ea typeface="Noto Serif TC"/>
              </a:rPr>
              <a:t>北辰顧問</a:t>
            </a:r>
          </a:p>
          <a:p>
            <a:pPr algn="l">
              <a:lnSpc>
                <a:spcPts val="6480"/>
              </a:lnSpc>
            </a:pPr>
            <a:r>
              <a:rPr sz="5400" b="1">
                <a:solidFill>
                  <a:srgbClr val="1E2F4D"/>
                </a:solidFill>
                <a:latin typeface="Noto Serif TC"/>
                <a:ea typeface="Noto Serif TC"/>
              </a:rPr>
              <a:t>2026 年度策略提案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5254079"/>
            <a:ext cx="10572750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1E2230"/>
                </a:solidFill>
                <a:latin typeface="Noto Sans TC"/>
                <a:ea typeface="Noto Sans TC"/>
              </a:rPr>
              <a:t>把判斷做在數字前面。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55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F4F1EA"/>
                </a:solidFill>
                <a:latin typeface="Noto Sans TC"/>
                <a:ea typeface="Noto Sans T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3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457200"/>
            <a:ext cx="162594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70">
                <a:solidFill>
                  <a:srgbClr val="1E2F4D"/>
                </a:solidFill>
                <a:latin typeface="Noto Sans TC"/>
                <a:ea typeface="Noto Sans TC"/>
              </a:rPr>
              <a:t>POLARIS ADVISORY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2170" y="457200"/>
            <a:ext cx="9487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F4F1EA"/>
                </a:solidFill>
                <a:latin typeface="Noto Serif TC"/>
                <a:ea typeface="Noto Serif TC"/>
              </a:rPr>
              <a:t>北辰顧問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472630"/>
            <a:ext cx="10572750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1">
                <a:solidFill>
                  <a:srgbClr val="F4F1EA">
                    <a:alpha val="35000"/>
                  </a:srgbClr>
                </a:solidFill>
                <a:latin typeface="Noto Serif TC"/>
                <a:ea typeface="Noto Serif T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691830"/>
            <a:ext cx="10572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sz="4200" b="1">
                <a:solidFill>
                  <a:srgbClr val="F4F1EA"/>
                </a:solidFill>
                <a:latin typeface="Noto Serif TC"/>
                <a:ea typeface="Noto Serif TC"/>
              </a:rPr>
              <a:t>判斷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55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F4F1EA"/>
                </a:solidFill>
                <a:latin typeface="Noto Sans TC"/>
                <a:ea typeface="Noto Sans T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200" y="2687091"/>
            <a:ext cx="3251150" cy="2207716"/>
          </a:xfrm>
          <a:prstGeom prst="rect">
            <a:avLst/>
          </a:prstGeom>
          <a:noFill/>
          <a:ln w="9525">
            <a:solidFill>
              <a:srgbClr val="1E2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470350" y="2687091"/>
            <a:ext cx="3251150" cy="2207716"/>
          </a:xfrm>
          <a:prstGeom prst="rect">
            <a:avLst/>
          </a:prstGeom>
          <a:noFill/>
          <a:ln w="9525">
            <a:solidFill>
              <a:srgbClr val="1E2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102500" y="2687091"/>
            <a:ext cx="3251299" cy="2207716"/>
          </a:xfrm>
          <a:prstGeom prst="rect">
            <a:avLst/>
          </a:prstGeom>
          <a:noFill/>
          <a:ln w="9525">
            <a:solidFill>
              <a:srgbClr val="1E2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icon-compass-4b4dc61c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925216"/>
            <a:ext cx="381000" cy="381000"/>
          </a:xfrm>
          <a:prstGeom prst="rect">
            <a:avLst/>
          </a:prstGeom>
        </p:spPr>
      </p:pic>
      <p:pic>
        <p:nvPicPr>
          <p:cNvPr id="7" name="Picture 6" descr="icon-users-811ef0bc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150" y="2925216"/>
            <a:ext cx="381000" cy="381000"/>
          </a:xfrm>
          <a:prstGeom prst="rect">
            <a:avLst/>
          </a:prstGeom>
        </p:spPr>
      </p:pic>
      <p:pic>
        <p:nvPicPr>
          <p:cNvPr id="8" name="Picture 7" descr="icon-target-2653743cf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7300" y="2925216"/>
            <a:ext cx="3810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200" y="457200"/>
            <a:ext cx="162594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70">
                <a:solidFill>
                  <a:srgbClr val="1E2F4D"/>
                </a:solidFill>
                <a:latin typeface="Noto Sans TC"/>
                <a:ea typeface="Noto Sans TC"/>
              </a:rPr>
              <a:t>POLARIS ADVISORY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2170" y="457200"/>
            <a:ext cx="9487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1E2F4D"/>
                </a:solidFill>
                <a:latin typeface="Noto Serif TC"/>
                <a:ea typeface="Noto Serif TC"/>
              </a:rPr>
              <a:t>北辰顧問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838200"/>
            <a:ext cx="10572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>
                <a:solidFill>
                  <a:srgbClr val="1E2F4D"/>
                </a:solidFill>
                <a:latin typeface="Noto Serif TC"/>
                <a:ea typeface="Noto Serif TC"/>
              </a:rPr>
              <a:t>三件事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96716"/>
            <a:ext cx="2698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1E2F4D"/>
                </a:solidFill>
                <a:latin typeface="Noto Sans TC"/>
                <a:ea typeface="Noto Sans TC"/>
              </a:rPr>
              <a:t>市場判斷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877716"/>
            <a:ext cx="2698700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1E2230"/>
                </a:solidFill>
                <a:latin typeface="Noto Sans TC"/>
                <a:ea typeface="Noto Sans TC"/>
              </a:rPr>
              <a:t>三個成長市場，只押一個。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5150" y="3496716"/>
            <a:ext cx="2698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1E2F4D"/>
                </a:solidFill>
                <a:latin typeface="Noto Sans TC"/>
                <a:ea typeface="Noto Sans TC"/>
              </a:rPr>
              <a:t>客戶判斷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5150" y="3877716"/>
            <a:ext cx="2698700" cy="750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1E2230"/>
                </a:solidFill>
                <a:latin typeface="Noto Sans TC"/>
                <a:ea typeface="Noto Sans TC"/>
              </a:rPr>
              <a:t>前 20% 客戶貢獻 71% 營收。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300" y="3496716"/>
            <a:ext cx="26988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1E2F4D"/>
                </a:solidFill>
                <a:latin typeface="Noto Sans TC"/>
                <a:ea typeface="Noto Sans TC"/>
              </a:rPr>
              <a:t>產品判斷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7300" y="3877716"/>
            <a:ext cx="2698849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1E2230"/>
                </a:solidFill>
                <a:latin typeface="Noto Sans TC"/>
                <a:ea typeface="Noto Sans TC"/>
              </a:rPr>
              <a:t>停掉兩條線，資源集中。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55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E2F4D"/>
                </a:solidFill>
                <a:latin typeface="Noto Sans TC"/>
                <a:ea typeface="Noto Sans T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62700" y="1919287"/>
            <a:ext cx="4991100" cy="3743325"/>
          </a:xfrm>
          <a:prstGeom prst="rect">
            <a:avLst/>
          </a:prstGeom>
          <a:solidFill>
            <a:srgbClr val="1E2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462170" y="457200"/>
            <a:ext cx="9487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1E2F4D"/>
                </a:solidFill>
                <a:latin typeface="Noto Serif TC"/>
                <a:ea typeface="Noto Serif TC"/>
              </a:rPr>
              <a:t>北辰顧問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838200"/>
            <a:ext cx="10572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>
                <a:solidFill>
                  <a:srgbClr val="1E2F4D"/>
                </a:solidFill>
                <a:latin typeface="Noto Serif TC"/>
                <a:ea typeface="Noto Serif TC"/>
              </a:rPr>
              <a:t>為什麼是現在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847082"/>
            <a:ext cx="5048250" cy="6609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1E2230"/>
                </a:solidFill>
                <a:latin typeface="Noto Sans TC"/>
                <a:ea typeface="Noto Sans TC"/>
              </a:rPr>
              <a:t>市場整併進入第二年，價格戰結束。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469927"/>
            <a:ext cx="5048250" cy="670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1E2230"/>
                </a:solidFill>
                <a:latin typeface="Noto Sans TC"/>
                <a:ea typeface="Noto Sans TC"/>
              </a:rPr>
              <a:t>客戶預算從「試」改成「換」。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102298"/>
            <a:ext cx="5048250" cy="670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1E2230"/>
                </a:solidFill>
                <a:latin typeface="Noto Sans TC"/>
                <a:ea typeface="Noto Sans TC"/>
              </a:rPr>
              <a:t>競爭者的合約多在 Q3 到期。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5281612"/>
            <a:ext cx="339700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F4F1EA"/>
                </a:solidFill>
                <a:latin typeface="Noto Sans TC"/>
                <a:ea typeface="Noto Sans TC"/>
              </a:rPr>
              <a:t>照片佔位：搜尋 boardroom meeting / city skyline dusk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55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E2F4D"/>
                </a:solidFill>
                <a:latin typeface="Noto Sans TC"/>
                <a:ea typeface="Noto Sans T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62170" y="457200"/>
            <a:ext cx="9487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1E2F4D"/>
                </a:solidFill>
                <a:latin typeface="Noto Serif TC"/>
                <a:ea typeface="Noto Serif TC"/>
              </a:rPr>
              <a:t>北辰顧問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956494"/>
            <a:ext cx="10572750" cy="194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sz="15000" b="1">
                <a:solidFill>
                  <a:srgbClr val="C2703D"/>
                </a:solidFill>
                <a:latin typeface="Noto Serif TC"/>
                <a:ea typeface="Noto Serif TC"/>
              </a:rPr>
              <a:t>38%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4090094"/>
            <a:ext cx="6153150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1E2230"/>
                </a:solidFill>
                <a:latin typeface="Noto Sans TC"/>
                <a:ea typeface="Noto Sans TC"/>
              </a:rPr>
              <a:t>客戶留存率提升，導入新流程後的第一年。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4674840"/>
            <a:ext cx="6153150" cy="2647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050" b="0">
                <a:solidFill>
                  <a:srgbClr val="1E2F4D">
                    <a:alpha val="85000"/>
                  </a:srgbClr>
                </a:solidFill>
                <a:latin typeface="Noto Sans TC"/>
                <a:ea typeface="Noto Sans TC"/>
              </a:rPr>
              <a:t>示意數字，換成你的。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55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E2F4D"/>
                </a:solidFill>
                <a:latin typeface="Noto Sans TC"/>
                <a:ea typeface="Noto Sans T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3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457200"/>
            <a:ext cx="162594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70">
                <a:solidFill>
                  <a:srgbClr val="1E2F4D"/>
                </a:solidFill>
                <a:latin typeface="Noto Sans TC"/>
                <a:ea typeface="Noto Sans TC"/>
              </a:rPr>
              <a:t>POLARIS ADVISORY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2170" y="457200"/>
            <a:ext cx="9487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F4F1EA"/>
                </a:solidFill>
                <a:latin typeface="Noto Serif TC"/>
                <a:ea typeface="Noto Serif TC"/>
              </a:rPr>
              <a:t>北辰顧問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472630"/>
            <a:ext cx="10572750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1">
                <a:solidFill>
                  <a:srgbClr val="F4F1EA">
                    <a:alpha val="35000"/>
                  </a:srgbClr>
                </a:solidFill>
                <a:latin typeface="Noto Serif TC"/>
                <a:ea typeface="Noto Serif T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691830"/>
            <a:ext cx="10572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sz="4200" b="1">
                <a:solidFill>
                  <a:srgbClr val="F4F1EA"/>
                </a:solidFill>
                <a:latin typeface="Noto Serif TC"/>
                <a:ea typeface="Noto Serif TC"/>
              </a:rPr>
              <a:t>行動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55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F4F1EA"/>
                </a:solidFill>
                <a:latin typeface="Noto Sans TC"/>
                <a:ea typeface="Noto Sans T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200" y="2744241"/>
            <a:ext cx="3251150" cy="2093416"/>
          </a:xfrm>
          <a:prstGeom prst="rect">
            <a:avLst/>
          </a:prstGeom>
          <a:noFill/>
          <a:ln w="9525">
            <a:solidFill>
              <a:srgbClr val="C27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470350" y="2744241"/>
            <a:ext cx="3251150" cy="2093416"/>
          </a:xfrm>
          <a:prstGeom prst="rect">
            <a:avLst/>
          </a:prstGeom>
          <a:noFill/>
          <a:ln w="9525">
            <a:solidFill>
              <a:srgbClr val="C27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102500" y="2744241"/>
            <a:ext cx="3251299" cy="2093416"/>
          </a:xfrm>
          <a:prstGeom prst="rect">
            <a:avLst/>
          </a:prstGeom>
          <a:noFill/>
          <a:ln w="9525">
            <a:solidFill>
              <a:srgbClr val="C27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2170" y="457200"/>
            <a:ext cx="9487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1E2F4D"/>
                </a:solidFill>
                <a:latin typeface="Noto Serif TC"/>
                <a:ea typeface="Noto Serif TC"/>
              </a:rPr>
              <a:t>北辰顧問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838200"/>
            <a:ext cx="10572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>
                <a:solidFill>
                  <a:srgbClr val="1E2F4D"/>
                </a:solidFill>
                <a:latin typeface="Noto Serif TC"/>
                <a:ea typeface="Noto Serif TC"/>
              </a:rPr>
              <a:t>三步開始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982366"/>
            <a:ext cx="26987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>
                <a:solidFill>
                  <a:srgbClr val="C2703D"/>
                </a:solidFill>
                <a:latin typeface="Noto Serif TC"/>
                <a:ea typeface="Noto Serif T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96716"/>
            <a:ext cx="2698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1E2F4D"/>
                </a:solidFill>
                <a:latin typeface="Noto Sans TC"/>
                <a:ea typeface="Noto Sans TC"/>
              </a:rPr>
              <a:t>盤點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58666"/>
            <a:ext cx="2698700" cy="750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1E2230"/>
                </a:solidFill>
                <a:latin typeface="Noto Sans TC"/>
                <a:ea typeface="Noto Sans TC"/>
              </a:rPr>
              <a:t>四週，盤三條產品線的毛利與流失。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5150" y="2982366"/>
            <a:ext cx="26987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>
                <a:solidFill>
                  <a:srgbClr val="C2703D"/>
                </a:solidFill>
                <a:latin typeface="Noto Serif TC"/>
                <a:ea typeface="Noto Serif T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5150" y="3496716"/>
            <a:ext cx="2698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1E2F4D"/>
                </a:solidFill>
                <a:latin typeface="Noto Sans TC"/>
                <a:ea typeface="Noto Sans TC"/>
              </a:rPr>
              <a:t>收斂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5150" y="3858666"/>
            <a:ext cx="2698700" cy="750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1E2230"/>
                </a:solidFill>
                <a:latin typeface="Noto Sans TC"/>
                <a:ea typeface="Noto Sans TC"/>
              </a:rPr>
              <a:t>八週，停兩條，資源集中到一條。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7300" y="2982366"/>
            <a:ext cx="2698849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>
                <a:solidFill>
                  <a:srgbClr val="C2703D"/>
                </a:solidFill>
                <a:latin typeface="Noto Serif TC"/>
                <a:ea typeface="Noto Serif T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300" y="3496716"/>
            <a:ext cx="26988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1E2F4D"/>
                </a:solidFill>
                <a:latin typeface="Noto Sans TC"/>
                <a:ea typeface="Noto Sans TC"/>
              </a:rPr>
              <a:t>放大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300" y="3858666"/>
            <a:ext cx="2698849" cy="750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1E2230"/>
                </a:solidFill>
                <a:latin typeface="Noto Sans TC"/>
                <a:ea typeface="Noto Sans TC"/>
              </a:rPr>
              <a:t>下半年，把一條做到市佔第一。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55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E2F4D"/>
                </a:solidFill>
                <a:latin typeface="Noto Sans TC"/>
                <a:ea typeface="Noto Sans T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62170" y="457200"/>
            <a:ext cx="9487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1E2F4D"/>
                </a:solidFill>
                <a:latin typeface="Noto Serif TC"/>
                <a:ea typeface="Noto Serif TC"/>
              </a:rPr>
              <a:t>北辰顧問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850802"/>
            <a:ext cx="10572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>
                <a:solidFill>
                  <a:srgbClr val="1E2F4D"/>
                </a:solidFill>
                <a:latin typeface="Noto Serif TC"/>
                <a:ea typeface="Noto Serif TC"/>
              </a:rPr>
              <a:t>先看數字，再談方向。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650902"/>
            <a:ext cx="10572750" cy="39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>
                <a:solidFill>
                  <a:srgbClr val="1E2F4D"/>
                </a:solidFill>
                <a:latin typeface="Noto Sans TC"/>
                <a:ea typeface="Noto Sans TC"/>
              </a:rPr>
              <a:t>hello@polaris.example（示意，換成你的）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55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1E2F4D"/>
                </a:solidFill>
                <a:latin typeface="Noto Sans TC"/>
                <a:ea typeface="Noto Sans TC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