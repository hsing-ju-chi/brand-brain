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Relationship Id="rId6" Type="http://schemas.openxmlformats.org/officeDocument/2006/relationships/image" Target="../media/image5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tech-1-bak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Rounded Rectangle 2"/>
          <p:cNvSpPr/>
          <p:nvPr/>
        </p:nvSpPr>
        <p:spPr>
          <a:xfrm>
            <a:off x="914400" y="1600200"/>
            <a:ext cx="3327350" cy="2131516"/>
          </a:xfrm>
          <a:prstGeom prst="roundRect">
            <a:avLst>
              <a:gd name="adj" fmla="val 8937"/>
            </a:avLst>
          </a:prstGeom>
          <a:solidFill>
            <a:srgbClr val="E5E7EB">
              <a:alpha val="6000"/>
            </a:srgbClr>
          </a:solidFill>
          <a:ln w="9525">
            <a:solidFill>
              <a:srgbClr val="E5E7EB">
                <a:alpha val="16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" name="Rounded Rectangle 3"/>
          <p:cNvSpPr/>
          <p:nvPr/>
        </p:nvSpPr>
        <p:spPr>
          <a:xfrm>
            <a:off x="1171575" y="2114550"/>
            <a:ext cx="609600" cy="419100"/>
          </a:xfrm>
          <a:prstGeom prst="roundRect">
            <a:avLst>
              <a:gd name="adj" fmla="val 27272"/>
            </a:avLst>
          </a:prstGeom>
          <a:solidFill>
            <a:srgbClr val="7DD3FC"/>
          </a:solidFill>
          <a:ln w="9525">
            <a:solidFill>
              <a:srgbClr val="7DD3FC">
                <a:alpha val="15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" name="Rounded Rectangle 4"/>
          <p:cNvSpPr/>
          <p:nvPr/>
        </p:nvSpPr>
        <p:spPr>
          <a:xfrm>
            <a:off x="1876425" y="2114550"/>
            <a:ext cx="609600" cy="419100"/>
          </a:xfrm>
          <a:prstGeom prst="roundRect">
            <a:avLst>
              <a:gd name="adj" fmla="val 27272"/>
            </a:avLst>
          </a:prstGeom>
          <a:solidFill>
            <a:srgbClr val="0B1220"/>
          </a:solidFill>
          <a:ln w="9525">
            <a:solidFill>
              <a:srgbClr val="7DD3FC">
                <a:alpha val="15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Rounded Rectangle 5"/>
          <p:cNvSpPr/>
          <p:nvPr/>
        </p:nvSpPr>
        <p:spPr>
          <a:xfrm>
            <a:off x="2581275" y="2114550"/>
            <a:ext cx="609600" cy="419100"/>
          </a:xfrm>
          <a:prstGeom prst="roundRect">
            <a:avLst>
              <a:gd name="adj" fmla="val 27272"/>
            </a:avLst>
          </a:prstGeom>
          <a:solidFill>
            <a:srgbClr val="E5E7EB"/>
          </a:solidFill>
          <a:ln w="9525">
            <a:solidFill>
              <a:srgbClr val="7DD3FC">
                <a:alpha val="15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Rounded Rectangle 6"/>
          <p:cNvSpPr/>
          <p:nvPr/>
        </p:nvSpPr>
        <p:spPr>
          <a:xfrm>
            <a:off x="3286125" y="2114550"/>
            <a:ext cx="609600" cy="419100"/>
          </a:xfrm>
          <a:prstGeom prst="roundRect">
            <a:avLst>
              <a:gd name="adj" fmla="val 27272"/>
            </a:avLst>
          </a:prstGeom>
          <a:solidFill>
            <a:srgbClr val="F59E0B"/>
          </a:solidFill>
          <a:ln w="9525">
            <a:solidFill>
              <a:srgbClr val="7DD3FC">
                <a:alpha val="15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Rounded Rectangle 7"/>
          <p:cNvSpPr/>
          <p:nvPr/>
        </p:nvSpPr>
        <p:spPr>
          <a:xfrm>
            <a:off x="4432250" y="1600200"/>
            <a:ext cx="3327350" cy="2131516"/>
          </a:xfrm>
          <a:prstGeom prst="roundRect">
            <a:avLst>
              <a:gd name="adj" fmla="val 8937"/>
            </a:avLst>
          </a:prstGeom>
          <a:solidFill>
            <a:srgbClr val="E5E7EB">
              <a:alpha val="6000"/>
            </a:srgbClr>
          </a:solidFill>
          <a:ln w="9525">
            <a:solidFill>
              <a:srgbClr val="E5E7EB">
                <a:alpha val="16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Rounded Rectangle 8"/>
          <p:cNvSpPr/>
          <p:nvPr/>
        </p:nvSpPr>
        <p:spPr>
          <a:xfrm>
            <a:off x="7950100" y="1600200"/>
            <a:ext cx="3327499" cy="2131516"/>
          </a:xfrm>
          <a:prstGeom prst="roundRect">
            <a:avLst>
              <a:gd name="adj" fmla="val 8937"/>
            </a:avLst>
          </a:prstGeom>
          <a:solidFill>
            <a:srgbClr val="E5E7EB">
              <a:alpha val="6000"/>
            </a:srgbClr>
          </a:solidFill>
          <a:ln w="9525">
            <a:solidFill>
              <a:srgbClr val="E5E7EB">
                <a:alpha val="16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Rounded Rectangle 9"/>
          <p:cNvSpPr/>
          <p:nvPr/>
        </p:nvSpPr>
        <p:spPr>
          <a:xfrm>
            <a:off x="914400" y="3922216"/>
            <a:ext cx="3327350" cy="2131516"/>
          </a:xfrm>
          <a:prstGeom prst="roundRect">
            <a:avLst>
              <a:gd name="adj" fmla="val 8937"/>
            </a:avLst>
          </a:prstGeom>
          <a:solidFill>
            <a:srgbClr val="E5E7EB">
              <a:alpha val="6000"/>
            </a:srgbClr>
          </a:solidFill>
          <a:ln w="9525">
            <a:solidFill>
              <a:srgbClr val="E5E7EB">
                <a:alpha val="16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Rounded Rectangle 10"/>
          <p:cNvSpPr/>
          <p:nvPr/>
        </p:nvSpPr>
        <p:spPr>
          <a:xfrm>
            <a:off x="4432250" y="3922216"/>
            <a:ext cx="3327350" cy="2131516"/>
          </a:xfrm>
          <a:prstGeom prst="roundRect">
            <a:avLst>
              <a:gd name="adj" fmla="val 8937"/>
            </a:avLst>
          </a:prstGeom>
          <a:solidFill>
            <a:srgbClr val="E5E7EB">
              <a:alpha val="6000"/>
            </a:srgbClr>
          </a:solidFill>
          <a:ln w="9525">
            <a:solidFill>
              <a:srgbClr val="E5E7EB">
                <a:alpha val="16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Rounded Rectangle 11"/>
          <p:cNvSpPr/>
          <p:nvPr/>
        </p:nvSpPr>
        <p:spPr>
          <a:xfrm>
            <a:off x="7950100" y="3922216"/>
            <a:ext cx="3327499" cy="2131516"/>
          </a:xfrm>
          <a:prstGeom prst="roundRect">
            <a:avLst>
              <a:gd name="adj" fmla="val 8937"/>
            </a:avLst>
          </a:prstGeom>
          <a:solidFill>
            <a:srgbClr val="E5E7EB">
              <a:alpha val="6000"/>
            </a:srgbClr>
          </a:solidFill>
          <a:ln w="9525">
            <a:solidFill>
              <a:srgbClr val="E5E7EB">
                <a:alpha val="16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Rounded Rectangle 12"/>
          <p:cNvSpPr/>
          <p:nvPr/>
        </p:nvSpPr>
        <p:spPr>
          <a:xfrm>
            <a:off x="8207275" y="4436566"/>
            <a:ext cx="495300" cy="276225"/>
          </a:xfrm>
          <a:prstGeom prst="roundRect">
            <a:avLst>
              <a:gd name="adj" fmla="val 50000"/>
            </a:avLst>
          </a:prstGeom>
          <a:noFill/>
          <a:ln w="9525">
            <a:solidFill>
              <a:srgbClr val="7DD3FC">
                <a:alpha val="35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Rounded Rectangle 13"/>
          <p:cNvSpPr/>
          <p:nvPr/>
        </p:nvSpPr>
        <p:spPr>
          <a:xfrm>
            <a:off x="8778775" y="4436566"/>
            <a:ext cx="619125" cy="276225"/>
          </a:xfrm>
          <a:prstGeom prst="roundRect">
            <a:avLst>
              <a:gd name="adj" fmla="val 50000"/>
            </a:avLst>
          </a:prstGeom>
          <a:noFill/>
          <a:ln w="9525">
            <a:solidFill>
              <a:srgbClr val="7DD3FC">
                <a:alpha val="35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Rounded Rectangle 14"/>
          <p:cNvSpPr/>
          <p:nvPr/>
        </p:nvSpPr>
        <p:spPr>
          <a:xfrm>
            <a:off x="9474100" y="4436566"/>
            <a:ext cx="742950" cy="276225"/>
          </a:xfrm>
          <a:prstGeom prst="roundRect">
            <a:avLst>
              <a:gd name="adj" fmla="val 50000"/>
            </a:avLst>
          </a:prstGeom>
          <a:noFill/>
          <a:ln w="9525">
            <a:solidFill>
              <a:srgbClr val="7DD3FC">
                <a:alpha val="35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Rounded Rectangle 15"/>
          <p:cNvSpPr/>
          <p:nvPr/>
        </p:nvSpPr>
        <p:spPr>
          <a:xfrm>
            <a:off x="8207275" y="4788991"/>
            <a:ext cx="742950" cy="276225"/>
          </a:xfrm>
          <a:prstGeom prst="roundRect">
            <a:avLst>
              <a:gd name="adj" fmla="val 50000"/>
            </a:avLst>
          </a:prstGeom>
          <a:noFill/>
          <a:ln w="9525">
            <a:solidFill>
              <a:srgbClr val="7DD3FC">
                <a:alpha val="35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Rounded Rectangle 16"/>
          <p:cNvSpPr/>
          <p:nvPr/>
        </p:nvSpPr>
        <p:spPr>
          <a:xfrm>
            <a:off x="9026425" y="4788991"/>
            <a:ext cx="866775" cy="276225"/>
          </a:xfrm>
          <a:prstGeom prst="roundRect">
            <a:avLst>
              <a:gd name="adj" fmla="val 50000"/>
            </a:avLst>
          </a:prstGeom>
          <a:noFill/>
          <a:ln w="9525">
            <a:solidFill>
              <a:srgbClr val="7DD3FC">
                <a:alpha val="35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Rounded Rectangle 17"/>
          <p:cNvSpPr/>
          <p:nvPr/>
        </p:nvSpPr>
        <p:spPr>
          <a:xfrm>
            <a:off x="9969400" y="4788991"/>
            <a:ext cx="619125" cy="276225"/>
          </a:xfrm>
          <a:prstGeom prst="roundRect">
            <a:avLst>
              <a:gd name="adj" fmla="val 50000"/>
            </a:avLst>
          </a:prstGeom>
          <a:noFill/>
          <a:ln w="9525">
            <a:solidFill>
              <a:srgbClr val="7DD3FC">
                <a:alpha val="35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Rounded Rectangle 18"/>
          <p:cNvSpPr/>
          <p:nvPr/>
        </p:nvSpPr>
        <p:spPr>
          <a:xfrm>
            <a:off x="8207275" y="5141416"/>
            <a:ext cx="742950" cy="276225"/>
          </a:xfrm>
          <a:prstGeom prst="roundRect">
            <a:avLst>
              <a:gd name="adj" fmla="val 50000"/>
            </a:avLst>
          </a:prstGeom>
          <a:noFill/>
          <a:ln w="9525">
            <a:solidFill>
              <a:srgbClr val="7DD3FC">
                <a:alpha val="35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Rounded Rectangle 19"/>
          <p:cNvSpPr/>
          <p:nvPr/>
        </p:nvSpPr>
        <p:spPr>
          <a:xfrm>
            <a:off x="9026425" y="5141416"/>
            <a:ext cx="495300" cy="276225"/>
          </a:xfrm>
          <a:prstGeom prst="roundRect">
            <a:avLst>
              <a:gd name="adj" fmla="val 50000"/>
            </a:avLst>
          </a:prstGeom>
          <a:noFill/>
          <a:ln w="9525">
            <a:solidFill>
              <a:srgbClr val="7DD3FC">
                <a:alpha val="35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21" name="Picture 20" descr="icon-zap-d4d6f93747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71575" y="4436566"/>
            <a:ext cx="266700" cy="266700"/>
          </a:xfrm>
          <a:prstGeom prst="rect">
            <a:avLst/>
          </a:prstGeom>
        </p:spPr>
      </p:pic>
      <p:pic>
        <p:nvPicPr>
          <p:cNvPr id="22" name="Picture 21" descr="icon-target-002307b16f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590675" y="4436566"/>
            <a:ext cx="266700" cy="266700"/>
          </a:xfrm>
          <a:prstGeom prst="rect">
            <a:avLst/>
          </a:prstGeom>
        </p:spPr>
      </p:pic>
      <p:pic>
        <p:nvPicPr>
          <p:cNvPr id="23" name="Picture 22" descr="icon-sparkles-969ece8023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009775" y="4436566"/>
            <a:ext cx="266700" cy="266700"/>
          </a:xfrm>
          <a:prstGeom prst="rect">
            <a:avLst/>
          </a:prstGeom>
        </p:spPr>
      </p:pic>
      <p:pic>
        <p:nvPicPr>
          <p:cNvPr id="24" name="Picture 23" descr="icon-compass-4b0dcd1cb1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428875" y="4436566"/>
            <a:ext cx="266700" cy="266700"/>
          </a:xfrm>
          <a:prstGeom prst="rect">
            <a:avLst/>
          </a:prstGeom>
        </p:spPr>
      </p:pic>
      <p:sp>
        <p:nvSpPr>
          <p:cNvPr id="25" name="TextBox 24"/>
          <p:cNvSpPr txBox="1"/>
          <p:nvPr/>
        </p:nvSpPr>
        <p:spPr>
          <a:xfrm>
            <a:off x="9931003" y="533400"/>
            <a:ext cx="1403746" cy="2857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950"/>
              </a:lnSpc>
            </a:pPr>
            <a:r>
              <a:rPr sz="1350" b="1" spc="405">
                <a:solidFill>
                  <a:srgbClr val="7DD3FC"/>
                </a:solidFill>
                <a:latin typeface="Noto Sans TC"/>
                <a:ea typeface="Noto Sans TC"/>
              </a:rPr>
              <a:t>Nova Labs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14400" y="914400"/>
            <a:ext cx="10420350" cy="533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900"/>
              </a:lnSpc>
            </a:pPr>
            <a:r>
              <a:rPr sz="3000" b="1">
                <a:solidFill>
                  <a:srgbClr val="7DD3FC"/>
                </a:solidFill>
                <a:latin typeface="Noto Sans TC"/>
                <a:ea typeface="Noto Sans TC"/>
              </a:rPr>
              <a:t>Design System · 玻璃科技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171575" y="1838325"/>
            <a:ext cx="2870150" cy="2000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275"/>
              </a:lnSpc>
            </a:pPr>
            <a:r>
              <a:rPr sz="900" b="0" spc="225">
                <a:solidFill>
                  <a:srgbClr val="F59E0B"/>
                </a:solidFill>
                <a:latin typeface="Noto Sans TC"/>
                <a:ea typeface="Noto Sans TC"/>
              </a:rPr>
              <a:t>色票 60-30-10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171575" y="2571750"/>
            <a:ext cx="666750" cy="1619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975"/>
              </a:lnSpc>
            </a:pPr>
            <a:r>
              <a:rPr sz="825" b="0">
                <a:solidFill>
                  <a:srgbClr val="E5E7EB">
                    <a:alpha val="80000"/>
                  </a:srgbClr>
                </a:solidFill>
                <a:latin typeface="ui-monospace"/>
                <a:ea typeface="ui-monospace"/>
              </a:rPr>
              <a:t>#7DD3FC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876425" y="2571750"/>
            <a:ext cx="666750" cy="1619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975"/>
              </a:lnSpc>
            </a:pPr>
            <a:r>
              <a:rPr sz="825" b="0">
                <a:solidFill>
                  <a:srgbClr val="E5E7EB">
                    <a:alpha val="80000"/>
                  </a:srgbClr>
                </a:solidFill>
                <a:latin typeface="ui-monospace"/>
                <a:ea typeface="ui-monospace"/>
              </a:rPr>
              <a:t>#0B1220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2581275" y="2571750"/>
            <a:ext cx="666750" cy="1619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975"/>
              </a:lnSpc>
            </a:pPr>
            <a:r>
              <a:rPr sz="825" b="0">
                <a:solidFill>
                  <a:srgbClr val="E5E7EB">
                    <a:alpha val="80000"/>
                  </a:srgbClr>
                </a:solidFill>
                <a:latin typeface="ui-monospace"/>
                <a:ea typeface="ui-monospace"/>
              </a:rPr>
              <a:t>#E5E7EB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3286125" y="2571750"/>
            <a:ext cx="666750" cy="1619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975"/>
              </a:lnSpc>
            </a:pPr>
            <a:r>
              <a:rPr sz="825" b="0">
                <a:solidFill>
                  <a:srgbClr val="E5E7EB">
                    <a:alpha val="80000"/>
                  </a:srgbClr>
                </a:solidFill>
                <a:latin typeface="ui-monospace"/>
                <a:ea typeface="ui-monospace"/>
              </a:rPr>
              <a:t>#F59E0B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171575" y="2809875"/>
            <a:ext cx="2870150" cy="2000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275"/>
              </a:lnSpc>
            </a:pPr>
            <a:r>
              <a:rPr sz="900" b="0">
                <a:solidFill>
                  <a:srgbClr val="E5E7EB">
                    <a:alpha val="70000"/>
                  </a:srgbClr>
                </a:solidFill>
                <a:latin typeface="Noto Sans TC"/>
                <a:ea typeface="Noto Sans TC"/>
              </a:rPr>
              <a:t>主色 · 背景 · 文字 · 強調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689425" y="1838325"/>
            <a:ext cx="2870150" cy="2000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275"/>
              </a:lnSpc>
            </a:pPr>
            <a:r>
              <a:rPr sz="900" b="0" spc="225">
                <a:solidFill>
                  <a:srgbClr val="F59E0B"/>
                </a:solidFill>
                <a:latin typeface="Noto Sans TC"/>
                <a:ea typeface="Noto Sans TC"/>
              </a:rPr>
              <a:t>字型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689425" y="2114550"/>
            <a:ext cx="2870150" cy="815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060"/>
              </a:lnSpc>
            </a:pPr>
            <a:r>
              <a:rPr sz="2550" b="1">
                <a:solidFill>
                  <a:srgbClr val="7DD3FC"/>
                </a:solidFill>
                <a:latin typeface="Noto Sans TC"/>
                <a:ea typeface="Noto Sans TC"/>
              </a:rPr>
              <a:t>標題 Noto Sans TC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689425" y="3006030"/>
            <a:ext cx="2870150" cy="5256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920"/>
              </a:lnSpc>
            </a:pPr>
            <a:r>
              <a:rPr sz="1200" b="0">
                <a:solidFill>
                  <a:srgbClr val="E5E7EB"/>
                </a:solidFill>
                <a:latin typeface="Noto Sans TC"/>
                <a:ea typeface="Noto Sans TC"/>
              </a:rPr>
              <a:t>內文 Noto Sans TC · 字級 72 / 40 / 22 / 14 · 行距 1.6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207275" y="1838325"/>
            <a:ext cx="2870299" cy="2000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275"/>
              </a:lnSpc>
            </a:pPr>
            <a:r>
              <a:rPr sz="900" b="0" spc="225">
                <a:solidFill>
                  <a:srgbClr val="F59E0B"/>
                </a:solidFill>
                <a:latin typeface="Noto Sans TC"/>
                <a:ea typeface="Noto Sans TC"/>
              </a:rPr>
              <a:t>底稿風格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207275" y="2114550"/>
            <a:ext cx="2870299" cy="42669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060"/>
              </a:lnSpc>
            </a:pPr>
            <a:r>
              <a:rPr sz="2550" b="1">
                <a:solidFill>
                  <a:srgbClr val="7DD3FC"/>
                </a:solidFill>
                <a:latin typeface="Noto Sans TC"/>
                <a:ea typeface="Noto Sans TC"/>
              </a:rPr>
              <a:t>玻璃擬態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8207275" y="2617440"/>
            <a:ext cx="2870299" cy="4953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sz="1125" b="0">
                <a:solidFill>
                  <a:srgbClr val="E5E7EB"/>
                </a:solidFill>
                <a:latin typeface="Noto Sans TC"/>
                <a:ea typeface="Noto Sans TC"/>
              </a:rPr>
              <a:t>暗底兩團柔光＋淡網格；卡片與封面文字塊是霧面玻璃面板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171575" y="4160341"/>
            <a:ext cx="2870150" cy="2000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275"/>
              </a:lnSpc>
            </a:pPr>
            <a:r>
              <a:rPr sz="900" b="0" spc="225">
                <a:solidFill>
                  <a:srgbClr val="F59E0B"/>
                </a:solidFill>
                <a:latin typeface="Noto Sans TC"/>
                <a:ea typeface="Noto Sans TC"/>
              </a:rPr>
              <a:t>元件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171575" y="4817566"/>
            <a:ext cx="2870150" cy="5256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920"/>
              </a:lnSpc>
            </a:pPr>
            <a:r>
              <a:rPr sz="1200" b="0">
                <a:solidFill>
                  <a:srgbClr val="E5E7EB"/>
                </a:solidFill>
                <a:latin typeface="Noto Sans TC"/>
                <a:ea typeface="Noto Sans TC"/>
              </a:rPr>
              <a:t>Lucide icon 粗細 1.5 · 卡片圓角 20px · 頁碼右下 14px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4689425" y="4160341"/>
            <a:ext cx="2870150" cy="2000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275"/>
              </a:lnSpc>
            </a:pPr>
            <a:r>
              <a:rPr sz="900" b="0" spc="225">
                <a:solidFill>
                  <a:srgbClr val="F59E0B"/>
                </a:solidFill>
                <a:latin typeface="Noto Sans TC"/>
                <a:ea typeface="Noto Sans TC"/>
              </a:rPr>
              <a:t>場景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4689425" y="4436566"/>
            <a:ext cx="2870150" cy="281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920"/>
              </a:lnSpc>
            </a:pPr>
            <a:r>
              <a:rPr sz="1200" b="0">
                <a:solidFill>
                  <a:srgbClr val="E5E7EB"/>
                </a:solidFill>
                <a:latin typeface="Noto Sans TC"/>
                <a:ea typeface="Noto Sans TC"/>
              </a:rPr>
              <a:t>產品發表、SaaS、技術分享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4689425" y="4794646"/>
            <a:ext cx="2870150" cy="2000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275"/>
              </a:lnSpc>
            </a:pPr>
            <a:r>
              <a:rPr sz="900" b="0">
                <a:solidFill>
                  <a:srgbClr val="E5E7EB">
                    <a:alpha val="70000"/>
                  </a:srgbClr>
                </a:solidFill>
                <a:latin typeface="Noto Sans TC"/>
                <a:ea typeface="Noto Sans TC"/>
              </a:rPr>
              <a:t>留白大（頁邊 96px）· 每頁 ≤50 字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8207275" y="4160341"/>
            <a:ext cx="2870299" cy="2000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275"/>
              </a:lnSpc>
            </a:pPr>
            <a:r>
              <a:rPr sz="900" b="0" spc="225">
                <a:solidFill>
                  <a:srgbClr val="F59E0B"/>
                </a:solidFill>
                <a:latin typeface="Noto Sans TC"/>
                <a:ea typeface="Noto Sans TC"/>
              </a:rPr>
              <a:t>頁型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8207275" y="4436566"/>
            <a:ext cx="552450" cy="3143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175"/>
              </a:lnSpc>
            </a:pPr>
            <a:r>
              <a:rPr sz="975" b="0">
                <a:solidFill>
                  <a:srgbClr val="7DD3FC"/>
                </a:solidFill>
                <a:latin typeface="Noto Sans TC"/>
                <a:ea typeface="Noto Sans TC"/>
              </a:rPr>
              <a:t>封面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8778775" y="4436566"/>
            <a:ext cx="676275" cy="3143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175"/>
              </a:lnSpc>
            </a:pPr>
            <a:r>
              <a:rPr sz="975" b="0">
                <a:solidFill>
                  <a:srgbClr val="7DD3FC"/>
                </a:solidFill>
                <a:latin typeface="Noto Sans TC"/>
                <a:ea typeface="Noto Sans TC"/>
              </a:rPr>
              <a:t>章節頁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9474100" y="4436566"/>
            <a:ext cx="800100" cy="3143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175"/>
              </a:lnSpc>
            </a:pPr>
            <a:r>
              <a:rPr sz="975" b="0">
                <a:solidFill>
                  <a:srgbClr val="7DD3FC"/>
                </a:solidFill>
                <a:latin typeface="Noto Sans TC"/>
                <a:ea typeface="Noto Sans TC"/>
              </a:rPr>
              <a:t>三欄重點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8207275" y="4788991"/>
            <a:ext cx="800100" cy="3143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175"/>
              </a:lnSpc>
            </a:pPr>
            <a:r>
              <a:rPr sz="975" b="0">
                <a:solidFill>
                  <a:srgbClr val="7DD3FC"/>
                </a:solidFill>
                <a:latin typeface="Noto Sans TC"/>
                <a:ea typeface="Noto Sans TC"/>
              </a:rPr>
              <a:t>左文右圖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9026425" y="4788991"/>
            <a:ext cx="923925" cy="3143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175"/>
              </a:lnSpc>
            </a:pPr>
            <a:r>
              <a:rPr sz="975" b="0">
                <a:solidFill>
                  <a:srgbClr val="7DD3FC"/>
                </a:solidFill>
                <a:latin typeface="Noto Sans TC"/>
                <a:ea typeface="Noto Sans TC"/>
              </a:rPr>
              <a:t>一頁一數字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9969400" y="4788991"/>
            <a:ext cx="676275" cy="3143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175"/>
              </a:lnSpc>
            </a:pPr>
            <a:r>
              <a:rPr sz="975" b="0">
                <a:solidFill>
                  <a:srgbClr val="7DD3FC"/>
                </a:solidFill>
                <a:latin typeface="Noto Sans TC"/>
                <a:ea typeface="Noto Sans TC"/>
              </a:rPr>
              <a:t>章節頁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8207275" y="5141416"/>
            <a:ext cx="800100" cy="3143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175"/>
              </a:lnSpc>
            </a:pPr>
            <a:r>
              <a:rPr sz="975" b="0">
                <a:solidFill>
                  <a:srgbClr val="7DD3FC"/>
                </a:solidFill>
                <a:latin typeface="Noto Sans TC"/>
                <a:ea typeface="Noto Sans TC"/>
              </a:rPr>
              <a:t>步驟流程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9026425" y="5141416"/>
            <a:ext cx="552450" cy="3143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175"/>
              </a:lnSpc>
            </a:pPr>
            <a:r>
              <a:rPr sz="975" b="0">
                <a:solidFill>
                  <a:srgbClr val="7DD3FC"/>
                </a:solidFill>
                <a:latin typeface="Noto Sans TC"/>
                <a:ea typeface="Noto Sans TC"/>
              </a:rPr>
              <a:t>封底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11134873" y="6362700"/>
            <a:ext cx="199876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500"/>
              </a:lnSpc>
            </a:pPr>
            <a:r>
              <a:rPr sz="1050" b="0">
                <a:solidFill>
                  <a:srgbClr val="7DD3FC"/>
                </a:solidFill>
                <a:latin typeface="Noto Sans TC"/>
                <a:ea typeface="Noto Sans TC"/>
              </a:rPr>
              <a:t>01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tech-1-bak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Rounded Rectangle 2"/>
          <p:cNvSpPr/>
          <p:nvPr/>
        </p:nvSpPr>
        <p:spPr>
          <a:xfrm>
            <a:off x="914400" y="2404467"/>
            <a:ext cx="7239000" cy="3539132"/>
          </a:xfrm>
          <a:prstGeom prst="roundRect">
            <a:avLst>
              <a:gd name="adj" fmla="val 5382"/>
            </a:avLst>
          </a:prstGeom>
          <a:solidFill>
            <a:srgbClr val="E5E7EB">
              <a:alpha val="6000"/>
            </a:srgbClr>
          </a:solidFill>
          <a:ln w="9525">
            <a:solidFill>
              <a:srgbClr val="E5E7EB">
                <a:alpha val="16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9931003" y="533400"/>
            <a:ext cx="1403746" cy="2857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950"/>
              </a:lnSpc>
            </a:pPr>
            <a:r>
              <a:rPr sz="1350" b="1" spc="405">
                <a:solidFill>
                  <a:srgbClr val="7DD3FC"/>
                </a:solidFill>
                <a:latin typeface="Noto Sans TC"/>
                <a:ea typeface="Noto Sans TC"/>
              </a:rPr>
              <a:t>Nova Labs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457325" y="2871192"/>
            <a:ext cx="6210300" cy="281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920"/>
              </a:lnSpc>
            </a:pPr>
            <a:r>
              <a:rPr sz="1200" b="0" spc="359">
                <a:solidFill>
                  <a:srgbClr val="F59E0B"/>
                </a:solidFill>
                <a:latin typeface="Noto Sans TC"/>
                <a:ea typeface="Noto Sans TC"/>
              </a:rPr>
              <a:t>NOVA LABS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457325" y="3305472"/>
            <a:ext cx="6210300" cy="16838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6480"/>
              </a:lnSpc>
            </a:pPr>
            <a:r>
              <a:rPr sz="5400" b="1">
                <a:solidFill>
                  <a:srgbClr val="7DD3FC"/>
                </a:solidFill>
                <a:latin typeface="Noto Sans TC"/>
                <a:ea typeface="Noto Sans TC"/>
              </a:rPr>
              <a:t>Nova Labs</a:t>
            </a:r>
          </a:p>
          <a:p>
            <a:pPr algn="l">
              <a:lnSpc>
                <a:spcPts val="6480"/>
              </a:lnSpc>
            </a:pPr>
            <a:r>
              <a:rPr sz="5400" b="1">
                <a:solidFill>
                  <a:srgbClr val="7DD3FC"/>
                </a:solidFill>
                <a:latin typeface="Noto Sans TC"/>
                <a:ea typeface="Noto Sans TC"/>
              </a:rPr>
              <a:t>產品發表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457325" y="5141714"/>
            <a:ext cx="6210300" cy="3732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640"/>
              </a:lnSpc>
            </a:pPr>
            <a:r>
              <a:rPr sz="1650" b="0">
                <a:solidFill>
                  <a:srgbClr val="E5E7EB"/>
                </a:solidFill>
                <a:latin typeface="Noto Sans TC"/>
                <a:ea typeface="Noto Sans TC"/>
              </a:rPr>
              <a:t>資料同步，不用等。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134873" y="6362700"/>
            <a:ext cx="199876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500"/>
              </a:lnSpc>
            </a:pPr>
            <a:r>
              <a:rPr sz="1050" b="0">
                <a:solidFill>
                  <a:srgbClr val="7DD3FC"/>
                </a:solidFill>
                <a:latin typeface="Noto Sans TC"/>
                <a:ea typeface="Noto Sans TC"/>
              </a:rPr>
              <a:t>02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tech-1-bak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9931003" y="533400"/>
            <a:ext cx="1403746" cy="2857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950"/>
              </a:lnSpc>
            </a:pPr>
            <a:r>
              <a:rPr sz="1350" b="1" spc="405">
                <a:solidFill>
                  <a:srgbClr val="7DD3FC"/>
                </a:solidFill>
                <a:latin typeface="Noto Sans TC"/>
                <a:ea typeface="Noto Sans TC"/>
              </a:rPr>
              <a:t>Nova Labs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472630"/>
            <a:ext cx="10420350" cy="11811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9000"/>
              </a:lnSpc>
            </a:pPr>
            <a:r>
              <a:rPr sz="9000" b="1">
                <a:solidFill>
                  <a:srgbClr val="7DD3FC">
                    <a:alpha val="35000"/>
                  </a:srgbClr>
                </a:solidFill>
                <a:latin typeface="Noto Sans TC"/>
                <a:ea typeface="Noto Sans TC"/>
              </a:rPr>
              <a:t>01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3691830"/>
            <a:ext cx="10420350" cy="73149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5459"/>
              </a:lnSpc>
            </a:pPr>
            <a:r>
              <a:rPr sz="4200" b="1">
                <a:solidFill>
                  <a:srgbClr val="7DD3FC"/>
                </a:solidFill>
                <a:latin typeface="Noto Sans TC"/>
                <a:ea typeface="Noto Sans TC"/>
              </a:rPr>
              <a:t>產品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34873" y="6362700"/>
            <a:ext cx="199876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500"/>
              </a:lnSpc>
            </a:pPr>
            <a:r>
              <a:rPr sz="1050" b="0">
                <a:solidFill>
                  <a:srgbClr val="7DD3FC"/>
                </a:solidFill>
                <a:latin typeface="Noto Sans TC"/>
                <a:ea typeface="Noto Sans TC"/>
              </a:rPr>
              <a:t>03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tech-1-bak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Rounded Rectangle 2"/>
          <p:cNvSpPr/>
          <p:nvPr/>
        </p:nvSpPr>
        <p:spPr>
          <a:xfrm>
            <a:off x="914400" y="2832794"/>
            <a:ext cx="3200400" cy="1916310"/>
          </a:xfrm>
          <a:prstGeom prst="roundRect">
            <a:avLst>
              <a:gd name="adj" fmla="val 9940"/>
            </a:avLst>
          </a:prstGeom>
          <a:solidFill>
            <a:srgbClr val="E5E7EB">
              <a:alpha val="6000"/>
            </a:srgbClr>
          </a:solidFill>
          <a:ln w="9525">
            <a:solidFill>
              <a:srgbClr val="E5E7EB">
                <a:alpha val="16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" name="Rounded Rectangle 3"/>
          <p:cNvSpPr/>
          <p:nvPr/>
        </p:nvSpPr>
        <p:spPr>
          <a:xfrm>
            <a:off x="4495800" y="2832794"/>
            <a:ext cx="3200400" cy="1916310"/>
          </a:xfrm>
          <a:prstGeom prst="roundRect">
            <a:avLst>
              <a:gd name="adj" fmla="val 9940"/>
            </a:avLst>
          </a:prstGeom>
          <a:solidFill>
            <a:srgbClr val="E5E7EB">
              <a:alpha val="6000"/>
            </a:srgbClr>
          </a:solidFill>
          <a:ln w="9525">
            <a:solidFill>
              <a:srgbClr val="E5E7EB">
                <a:alpha val="16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" name="Rounded Rectangle 4"/>
          <p:cNvSpPr/>
          <p:nvPr/>
        </p:nvSpPr>
        <p:spPr>
          <a:xfrm>
            <a:off x="8077200" y="2832794"/>
            <a:ext cx="3200400" cy="1916310"/>
          </a:xfrm>
          <a:prstGeom prst="roundRect">
            <a:avLst>
              <a:gd name="adj" fmla="val 9940"/>
            </a:avLst>
          </a:prstGeom>
          <a:solidFill>
            <a:srgbClr val="E5E7EB">
              <a:alpha val="6000"/>
            </a:srgbClr>
          </a:solidFill>
          <a:ln w="9525">
            <a:solidFill>
              <a:srgbClr val="E5E7EB">
                <a:alpha val="16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6" name="Picture 5" descr="icon-zap-d4d6f93747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28725" y="3147119"/>
            <a:ext cx="381000" cy="381000"/>
          </a:xfrm>
          <a:prstGeom prst="rect">
            <a:avLst/>
          </a:prstGeom>
        </p:spPr>
      </p:pic>
      <p:pic>
        <p:nvPicPr>
          <p:cNvPr id="7" name="Picture 6" descr="icon-target-002307b16f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10125" y="3147119"/>
            <a:ext cx="381000" cy="381000"/>
          </a:xfrm>
          <a:prstGeom prst="rect">
            <a:avLst/>
          </a:prstGeom>
        </p:spPr>
      </p:pic>
      <p:pic>
        <p:nvPicPr>
          <p:cNvPr id="8" name="Picture 7" descr="icon-sparkles-969ece8023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391525" y="3147119"/>
            <a:ext cx="381000" cy="38100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9931003" y="533400"/>
            <a:ext cx="1403746" cy="2857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950"/>
              </a:lnSpc>
            </a:pPr>
            <a:r>
              <a:rPr sz="1350" b="1" spc="405">
                <a:solidFill>
                  <a:srgbClr val="7DD3FC"/>
                </a:solidFill>
                <a:latin typeface="Noto Sans TC"/>
                <a:ea typeface="Noto Sans TC"/>
              </a:rPr>
              <a:t>Nova Labs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914400"/>
            <a:ext cx="10420350" cy="533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900"/>
              </a:lnSpc>
            </a:pPr>
            <a:r>
              <a:rPr sz="3000" b="1">
                <a:solidFill>
                  <a:srgbClr val="7DD3FC"/>
                </a:solidFill>
                <a:latin typeface="Noto Sans TC"/>
                <a:ea typeface="Noto Sans TC"/>
              </a:rPr>
              <a:t>三件事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228725" y="3718619"/>
            <a:ext cx="26289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400"/>
              </a:lnSpc>
            </a:pPr>
            <a:r>
              <a:rPr sz="1650" b="0">
                <a:solidFill>
                  <a:srgbClr val="7DD3FC"/>
                </a:solidFill>
                <a:latin typeface="Noto Sans TC"/>
                <a:ea typeface="Noto Sans TC"/>
              </a:rPr>
              <a:t>即時同步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228725" y="4099619"/>
            <a:ext cx="2628900" cy="3732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640"/>
              </a:lnSpc>
            </a:pPr>
            <a:r>
              <a:rPr sz="1650" b="0">
                <a:solidFill>
                  <a:srgbClr val="E5E7EB"/>
                </a:solidFill>
                <a:latin typeface="Noto Sans TC"/>
                <a:ea typeface="Noto Sans TC"/>
              </a:rPr>
              <a:t>毫秒級，跨裝置一致。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810125" y="3718619"/>
            <a:ext cx="26289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400"/>
              </a:lnSpc>
            </a:pPr>
            <a:r>
              <a:rPr sz="1650" b="0">
                <a:solidFill>
                  <a:srgbClr val="7DD3FC"/>
                </a:solidFill>
                <a:latin typeface="Noto Sans TC"/>
                <a:ea typeface="Noto Sans TC"/>
              </a:rPr>
              <a:t>零信任架構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810125" y="4099619"/>
            <a:ext cx="2628900" cy="3732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640"/>
              </a:lnSpc>
            </a:pPr>
            <a:r>
              <a:rPr sz="1650" b="0">
                <a:solidFill>
                  <a:srgbClr val="E5E7EB"/>
                </a:solidFill>
                <a:latin typeface="Noto Sans TC"/>
                <a:ea typeface="Noto Sans TC"/>
              </a:rPr>
              <a:t>每一次存取都驗證。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391525" y="3718619"/>
            <a:ext cx="26289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400"/>
              </a:lnSpc>
            </a:pPr>
            <a:r>
              <a:rPr sz="1650" b="0">
                <a:solidFill>
                  <a:srgbClr val="7DD3FC"/>
                </a:solidFill>
                <a:latin typeface="Noto Sans TC"/>
                <a:ea typeface="Noto Sans TC"/>
              </a:rPr>
              <a:t>開放 API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391525" y="4099619"/>
            <a:ext cx="2628900" cy="3732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640"/>
              </a:lnSpc>
            </a:pPr>
            <a:r>
              <a:rPr sz="1650" b="0">
                <a:solidFill>
                  <a:srgbClr val="E5E7EB"/>
                </a:solidFill>
                <a:latin typeface="Noto Sans TC"/>
                <a:ea typeface="Noto Sans TC"/>
              </a:rPr>
              <a:t>三行程式接上。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134873" y="6362700"/>
            <a:ext cx="199876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500"/>
              </a:lnSpc>
            </a:pPr>
            <a:r>
              <a:rPr sz="1050" b="0">
                <a:solidFill>
                  <a:srgbClr val="7DD3FC"/>
                </a:solidFill>
                <a:latin typeface="Noto Sans TC"/>
                <a:ea typeface="Noto Sans TC"/>
              </a:rPr>
              <a:t>04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tech-1-bak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Rounded Rectangle 2"/>
          <p:cNvSpPr/>
          <p:nvPr/>
        </p:nvSpPr>
        <p:spPr>
          <a:xfrm>
            <a:off x="6362700" y="1947862"/>
            <a:ext cx="4914900" cy="3686175"/>
          </a:xfrm>
          <a:prstGeom prst="roundRect">
            <a:avLst>
              <a:gd name="adj" fmla="val 5167"/>
            </a:avLst>
          </a:prstGeom>
          <a:solidFill>
            <a:srgbClr val="7DD3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9931003" y="533400"/>
            <a:ext cx="1403746" cy="2857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950"/>
              </a:lnSpc>
            </a:pPr>
            <a:r>
              <a:rPr sz="1350" b="1" spc="405">
                <a:solidFill>
                  <a:srgbClr val="7DD3FC"/>
                </a:solidFill>
                <a:latin typeface="Noto Sans TC"/>
                <a:ea typeface="Noto Sans TC"/>
              </a:rPr>
              <a:t>Nova Labs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914400"/>
            <a:ext cx="10420350" cy="533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900"/>
              </a:lnSpc>
            </a:pPr>
            <a:r>
              <a:rPr sz="3000" b="1">
                <a:solidFill>
                  <a:srgbClr val="7DD3FC"/>
                </a:solidFill>
                <a:latin typeface="Noto Sans TC"/>
                <a:ea typeface="Noto Sans TC"/>
              </a:rPr>
              <a:t>它怎麼運作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2878633"/>
            <a:ext cx="4972050" cy="639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640"/>
              </a:lnSpc>
            </a:pPr>
            <a:r>
              <a:rPr sz="1650" b="0">
                <a:solidFill>
                  <a:srgbClr val="E5E7EB"/>
                </a:solidFill>
                <a:latin typeface="Noto Sans TC"/>
                <a:ea typeface="Noto Sans TC"/>
              </a:rPr>
              <a:t>每筆變更先寫本機，再背景同步。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3480494"/>
            <a:ext cx="4972050" cy="64948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640"/>
              </a:lnSpc>
            </a:pPr>
            <a:r>
              <a:rPr sz="1650" b="0">
                <a:solidFill>
                  <a:srgbClr val="E5E7EB"/>
                </a:solidFill>
                <a:latin typeface="Noto Sans TC"/>
                <a:ea typeface="Noto Sans TC"/>
              </a:rPr>
              <a:t>衝突用時間戳自動合併，不問人。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4091880"/>
            <a:ext cx="4972050" cy="64948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640"/>
              </a:lnSpc>
            </a:pPr>
            <a:r>
              <a:rPr sz="1650" b="0">
                <a:solidFill>
                  <a:srgbClr val="E5E7EB"/>
                </a:solidFill>
                <a:latin typeface="Noto Sans TC"/>
                <a:ea typeface="Noto Sans TC"/>
              </a:rPr>
              <a:t>離線也能改，回線自動補齊。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53200" y="5253037"/>
            <a:ext cx="3543597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500"/>
              </a:lnSpc>
            </a:pPr>
            <a:r>
              <a:rPr sz="1050" b="0">
                <a:solidFill>
                  <a:srgbClr val="0B1220"/>
                </a:solidFill>
                <a:latin typeface="Noto Sans TC"/>
                <a:ea typeface="Noto Sans TC"/>
              </a:rPr>
              <a:t>照片佔位：搜尋 server room blue light / abstract data lines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134873" y="6362700"/>
            <a:ext cx="199876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500"/>
              </a:lnSpc>
            </a:pPr>
            <a:r>
              <a:rPr sz="1050" b="0">
                <a:solidFill>
                  <a:srgbClr val="7DD3FC"/>
                </a:solidFill>
                <a:latin typeface="Noto Sans TC"/>
                <a:ea typeface="Noto Sans TC"/>
              </a:rPr>
              <a:t>05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tech-1-bak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9931003" y="533400"/>
            <a:ext cx="1403746" cy="2857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950"/>
              </a:lnSpc>
            </a:pPr>
            <a:r>
              <a:rPr sz="1350" b="1" spc="405">
                <a:solidFill>
                  <a:srgbClr val="7DD3FC"/>
                </a:solidFill>
                <a:latin typeface="Noto Sans TC"/>
                <a:ea typeface="Noto Sans TC"/>
              </a:rPr>
              <a:t>Nova Labs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973609"/>
            <a:ext cx="10420350" cy="19431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5000"/>
              </a:lnSpc>
            </a:pPr>
            <a:r>
              <a:rPr sz="15000" b="1">
                <a:solidFill>
                  <a:srgbClr val="F59E0B"/>
                </a:solidFill>
                <a:latin typeface="Noto Sans TC"/>
                <a:ea typeface="Noto Sans TC"/>
              </a:rPr>
              <a:t>99.98%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4107209"/>
            <a:ext cx="6153150" cy="3732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640"/>
              </a:lnSpc>
            </a:pPr>
            <a:r>
              <a:rPr sz="1650" b="0">
                <a:solidFill>
                  <a:srgbClr val="E5E7EB"/>
                </a:solidFill>
                <a:latin typeface="Noto Sans TC"/>
                <a:ea typeface="Noto Sans TC"/>
              </a:rPr>
              <a:t>過去 12 個月的服務可用率。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4670970"/>
            <a:ext cx="6153150" cy="25137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679"/>
              </a:lnSpc>
            </a:pPr>
            <a:r>
              <a:rPr sz="1050" b="0">
                <a:solidFill>
                  <a:srgbClr val="7DD3FC">
                    <a:alpha val="85000"/>
                  </a:srgbClr>
                </a:solidFill>
                <a:latin typeface="Noto Sans TC"/>
                <a:ea typeface="Noto Sans TC"/>
              </a:rPr>
              <a:t>示意數字，換成你的。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34873" y="6362700"/>
            <a:ext cx="199876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500"/>
              </a:lnSpc>
            </a:pPr>
            <a:r>
              <a:rPr sz="1050" b="0">
                <a:solidFill>
                  <a:srgbClr val="7DD3FC"/>
                </a:solidFill>
                <a:latin typeface="Noto Sans TC"/>
                <a:ea typeface="Noto Sans TC"/>
              </a:rPr>
              <a:t>06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tech-1-bak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9931003" y="533400"/>
            <a:ext cx="1403746" cy="2857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950"/>
              </a:lnSpc>
            </a:pPr>
            <a:r>
              <a:rPr sz="1350" b="1" spc="405">
                <a:solidFill>
                  <a:srgbClr val="7DD3FC"/>
                </a:solidFill>
                <a:latin typeface="Noto Sans TC"/>
                <a:ea typeface="Noto Sans TC"/>
              </a:rPr>
              <a:t>Nova Labs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472630"/>
            <a:ext cx="10420350" cy="11811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9000"/>
              </a:lnSpc>
            </a:pPr>
            <a:r>
              <a:rPr sz="9000" b="1">
                <a:solidFill>
                  <a:srgbClr val="7DD3FC">
                    <a:alpha val="35000"/>
                  </a:srgbClr>
                </a:solidFill>
                <a:latin typeface="Noto Sans TC"/>
                <a:ea typeface="Noto Sans TC"/>
              </a:rPr>
              <a:t>02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3691830"/>
            <a:ext cx="10420350" cy="73149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5459"/>
              </a:lnSpc>
            </a:pPr>
            <a:r>
              <a:rPr sz="4200" b="1">
                <a:solidFill>
                  <a:srgbClr val="7DD3FC"/>
                </a:solidFill>
                <a:latin typeface="Noto Sans TC"/>
                <a:ea typeface="Noto Sans TC"/>
              </a:rPr>
              <a:t>導入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34873" y="6362700"/>
            <a:ext cx="199876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500"/>
              </a:lnSpc>
            </a:pPr>
            <a:r>
              <a:rPr sz="1050" b="0">
                <a:solidFill>
                  <a:srgbClr val="7DD3FC"/>
                </a:solidFill>
                <a:latin typeface="Noto Sans TC"/>
                <a:ea typeface="Noto Sans TC"/>
              </a:rPr>
              <a:t>07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tech-1-bak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Rounded Rectangle 2"/>
          <p:cNvSpPr/>
          <p:nvPr/>
        </p:nvSpPr>
        <p:spPr>
          <a:xfrm>
            <a:off x="914400" y="2741414"/>
            <a:ext cx="3200400" cy="2099071"/>
          </a:xfrm>
          <a:prstGeom prst="roundRect">
            <a:avLst>
              <a:gd name="adj" fmla="val 9075"/>
            </a:avLst>
          </a:prstGeom>
          <a:solidFill>
            <a:srgbClr val="E5E7EB">
              <a:alpha val="6000"/>
            </a:srgbClr>
          </a:solidFill>
          <a:ln w="9525">
            <a:solidFill>
              <a:srgbClr val="E5E7EB">
                <a:alpha val="16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" name="Rounded Rectangle 3"/>
          <p:cNvSpPr/>
          <p:nvPr/>
        </p:nvSpPr>
        <p:spPr>
          <a:xfrm>
            <a:off x="4495800" y="2741414"/>
            <a:ext cx="3200400" cy="2099071"/>
          </a:xfrm>
          <a:prstGeom prst="roundRect">
            <a:avLst>
              <a:gd name="adj" fmla="val 9075"/>
            </a:avLst>
          </a:prstGeom>
          <a:solidFill>
            <a:srgbClr val="E5E7EB">
              <a:alpha val="6000"/>
            </a:srgbClr>
          </a:solidFill>
          <a:ln w="9525">
            <a:solidFill>
              <a:srgbClr val="E5E7EB">
                <a:alpha val="16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" name="Rounded Rectangle 4"/>
          <p:cNvSpPr/>
          <p:nvPr/>
        </p:nvSpPr>
        <p:spPr>
          <a:xfrm>
            <a:off x="8077200" y="2741414"/>
            <a:ext cx="3200400" cy="2099071"/>
          </a:xfrm>
          <a:prstGeom prst="roundRect">
            <a:avLst>
              <a:gd name="adj" fmla="val 9075"/>
            </a:avLst>
          </a:prstGeom>
          <a:solidFill>
            <a:srgbClr val="E5E7EB">
              <a:alpha val="6000"/>
            </a:srgbClr>
          </a:solidFill>
          <a:ln w="9525">
            <a:solidFill>
              <a:srgbClr val="E5E7EB">
                <a:alpha val="16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9931003" y="533400"/>
            <a:ext cx="1403746" cy="2857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950"/>
              </a:lnSpc>
            </a:pPr>
            <a:r>
              <a:rPr sz="1350" b="1" spc="405">
                <a:solidFill>
                  <a:srgbClr val="7DD3FC"/>
                </a:solidFill>
                <a:latin typeface="Noto Sans TC"/>
                <a:ea typeface="Noto Sans TC"/>
              </a:rPr>
              <a:t>Nova Labs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914400"/>
            <a:ext cx="10420350" cy="533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900"/>
              </a:lnSpc>
            </a:pPr>
            <a:r>
              <a:rPr sz="3000" b="1">
                <a:solidFill>
                  <a:srgbClr val="7DD3FC"/>
                </a:solidFill>
                <a:latin typeface="Noto Sans TC"/>
                <a:ea typeface="Noto Sans TC"/>
              </a:rPr>
              <a:t>三步開始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228725" y="3017639"/>
            <a:ext cx="2628900" cy="4191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000"/>
              </a:lnSpc>
            </a:pPr>
            <a:r>
              <a:rPr sz="3000" b="1">
                <a:solidFill>
                  <a:srgbClr val="F59E0B"/>
                </a:solidFill>
                <a:latin typeface="Noto Sans TC"/>
                <a:ea typeface="Noto Sans TC"/>
              </a:rPr>
              <a:t>01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228725" y="3531989"/>
            <a:ext cx="26289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400"/>
              </a:lnSpc>
            </a:pPr>
            <a:r>
              <a:rPr sz="1650" b="0">
                <a:solidFill>
                  <a:srgbClr val="7DD3FC"/>
                </a:solidFill>
                <a:latin typeface="Noto Sans TC"/>
                <a:ea typeface="Noto Sans TC"/>
              </a:rPr>
              <a:t>接上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28725" y="3893939"/>
            <a:ext cx="2628900" cy="3732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640"/>
              </a:lnSpc>
            </a:pPr>
            <a:r>
              <a:rPr sz="1650" b="0">
                <a:solidFill>
                  <a:srgbClr val="E5E7EB"/>
                </a:solidFill>
                <a:latin typeface="Noto Sans TC"/>
                <a:ea typeface="Noto Sans TC"/>
              </a:rPr>
              <a:t>API 金鑰，三行程式。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810125" y="3017639"/>
            <a:ext cx="2628900" cy="4191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000"/>
              </a:lnSpc>
            </a:pPr>
            <a:r>
              <a:rPr sz="3000" b="1">
                <a:solidFill>
                  <a:srgbClr val="F59E0B"/>
                </a:solidFill>
                <a:latin typeface="Noto Sans TC"/>
                <a:ea typeface="Noto Sans TC"/>
              </a:rPr>
              <a:t>02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810125" y="3531989"/>
            <a:ext cx="26289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400"/>
              </a:lnSpc>
            </a:pPr>
            <a:r>
              <a:rPr sz="1650" b="0">
                <a:solidFill>
                  <a:srgbClr val="7DD3FC"/>
                </a:solidFill>
                <a:latin typeface="Noto Sans TC"/>
                <a:ea typeface="Noto Sans TC"/>
              </a:rPr>
              <a:t>對映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810125" y="3893939"/>
            <a:ext cx="2628900" cy="3732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640"/>
              </a:lnSpc>
            </a:pPr>
            <a:r>
              <a:rPr sz="1650" b="0">
                <a:solidFill>
                  <a:srgbClr val="E5E7EB"/>
                </a:solidFill>
                <a:latin typeface="Noto Sans TC"/>
                <a:ea typeface="Noto Sans TC"/>
              </a:rPr>
              <a:t>選要同步的欄位。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391525" y="3017639"/>
            <a:ext cx="2628900" cy="4191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000"/>
              </a:lnSpc>
            </a:pPr>
            <a:r>
              <a:rPr sz="3000" b="1">
                <a:solidFill>
                  <a:srgbClr val="F59E0B"/>
                </a:solidFill>
                <a:latin typeface="Noto Sans TC"/>
                <a:ea typeface="Noto Sans TC"/>
              </a:rPr>
              <a:t>03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391525" y="3531989"/>
            <a:ext cx="26289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400"/>
              </a:lnSpc>
            </a:pPr>
            <a:r>
              <a:rPr sz="1650" b="0">
                <a:solidFill>
                  <a:srgbClr val="7DD3FC"/>
                </a:solidFill>
                <a:latin typeface="Noto Sans TC"/>
                <a:ea typeface="Noto Sans TC"/>
              </a:rPr>
              <a:t>上線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391525" y="3893939"/>
            <a:ext cx="2628900" cy="70842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640"/>
              </a:lnSpc>
            </a:pPr>
            <a:r>
              <a:rPr sz="1650" b="0">
                <a:solidFill>
                  <a:srgbClr val="E5E7EB"/>
                </a:solidFill>
                <a:latin typeface="Noto Sans TC"/>
                <a:ea typeface="Noto Sans TC"/>
              </a:rPr>
              <a:t>灰度 10% 開始，一週全量。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134873" y="6362700"/>
            <a:ext cx="199876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500"/>
              </a:lnSpc>
            </a:pPr>
            <a:r>
              <a:rPr sz="1050" b="0">
                <a:solidFill>
                  <a:srgbClr val="7DD3FC"/>
                </a:solidFill>
                <a:latin typeface="Noto Sans TC"/>
                <a:ea typeface="Noto Sans TC"/>
              </a:rPr>
              <a:t>08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tech-1-bak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9931003" y="533400"/>
            <a:ext cx="1403746" cy="2857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950"/>
              </a:lnSpc>
            </a:pPr>
            <a:r>
              <a:rPr sz="1350" b="1" spc="405">
                <a:solidFill>
                  <a:srgbClr val="7DD3FC"/>
                </a:solidFill>
                <a:latin typeface="Noto Sans TC"/>
                <a:ea typeface="Noto Sans TC"/>
              </a:rPr>
              <a:t>Nova Labs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861369"/>
            <a:ext cx="10420350" cy="533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900"/>
              </a:lnSpc>
            </a:pPr>
            <a:r>
              <a:rPr sz="3000" b="1">
                <a:solidFill>
                  <a:srgbClr val="7DD3FC"/>
                </a:solidFill>
                <a:latin typeface="Noto Sans TC"/>
                <a:ea typeface="Noto Sans TC"/>
              </a:rPr>
              <a:t>不用等，就是最好的功能。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3661469"/>
            <a:ext cx="10420350" cy="3732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640"/>
              </a:lnSpc>
            </a:pPr>
            <a:r>
              <a:rPr sz="1650" b="0">
                <a:solidFill>
                  <a:srgbClr val="7DD3FC"/>
                </a:solidFill>
                <a:latin typeface="Noto Sans TC"/>
                <a:ea typeface="Noto Sans TC"/>
              </a:rPr>
              <a:t>team@novalabs.example（示意，換成你的）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34873" y="6362700"/>
            <a:ext cx="199876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500"/>
              </a:lnSpc>
            </a:pPr>
            <a:r>
              <a:rPr sz="1050" b="0">
                <a:solidFill>
                  <a:srgbClr val="7DD3FC"/>
                </a:solidFill>
                <a:latin typeface="Noto Sans TC"/>
                <a:ea typeface="Noto Sans TC"/>
              </a:rPr>
              <a:t>09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