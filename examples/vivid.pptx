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8200" y="1524000"/>
            <a:ext cx="3378100" cy="2447925"/>
          </a:xfrm>
          <a:prstGeom prst="roundRect">
            <a:avLst>
              <a:gd name="adj" fmla="val 10894"/>
            </a:avLst>
          </a:prstGeom>
          <a:solidFill>
            <a:srgbClr val="FFFFFF"/>
          </a:solidFill>
          <a:ln w="9525">
            <a:solidFill>
              <a:srgbClr val="3B2A20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095375" y="2038350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3B2A20"/>
          </a:solidFill>
          <a:ln w="9525">
            <a:solidFill>
              <a:srgbClr val="3B2A2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800225" y="2038350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F6F4EE"/>
          </a:solidFill>
          <a:ln w="9525">
            <a:solidFill>
              <a:srgbClr val="3B2A2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505075" y="2038350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3B2A20"/>
          </a:solidFill>
          <a:ln w="9525">
            <a:solidFill>
              <a:srgbClr val="3B2A2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209925" y="2038350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9DC183"/>
          </a:solidFill>
          <a:ln w="9525">
            <a:solidFill>
              <a:srgbClr val="3B2A2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095375" y="2714625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F9C6C0"/>
          </a:solidFill>
          <a:ln w="9525">
            <a:solidFill>
              <a:srgbClr val="3B2A2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800225" y="2714625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F6E27A"/>
          </a:solidFill>
          <a:ln w="9525">
            <a:solidFill>
              <a:srgbClr val="3B2A2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505075" y="2714625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B9CDEB"/>
          </a:solidFill>
          <a:ln w="9525">
            <a:solidFill>
              <a:srgbClr val="3B2A2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209925" y="2714625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CDB8E6"/>
          </a:solidFill>
          <a:ln w="9525">
            <a:solidFill>
              <a:srgbClr val="3B2A2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406800" y="1524000"/>
            <a:ext cx="3378249" cy="2447925"/>
          </a:xfrm>
          <a:prstGeom prst="roundRect">
            <a:avLst>
              <a:gd name="adj" fmla="val 10894"/>
            </a:avLst>
          </a:prstGeom>
          <a:solidFill>
            <a:srgbClr val="FFFFFF"/>
          </a:solidFill>
          <a:ln w="9525">
            <a:solidFill>
              <a:srgbClr val="3B2A20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975550" y="1524000"/>
            <a:ext cx="3378100" cy="2447925"/>
          </a:xfrm>
          <a:prstGeom prst="roundRect">
            <a:avLst>
              <a:gd name="adj" fmla="val 10894"/>
            </a:avLst>
          </a:prstGeom>
          <a:solidFill>
            <a:srgbClr val="FFFFFF"/>
          </a:solidFill>
          <a:ln w="9525">
            <a:solidFill>
              <a:srgbClr val="3B2A20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38200" y="4162425"/>
            <a:ext cx="3378100" cy="2447925"/>
          </a:xfrm>
          <a:prstGeom prst="roundRect">
            <a:avLst>
              <a:gd name="adj" fmla="val 10894"/>
            </a:avLst>
          </a:prstGeom>
          <a:solidFill>
            <a:srgbClr val="FFFFFF"/>
          </a:solidFill>
          <a:ln w="9525">
            <a:solidFill>
              <a:srgbClr val="3B2A20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406800" y="4162425"/>
            <a:ext cx="3378249" cy="2447925"/>
          </a:xfrm>
          <a:prstGeom prst="roundRect">
            <a:avLst>
              <a:gd name="adj" fmla="val 10894"/>
            </a:avLst>
          </a:prstGeom>
          <a:solidFill>
            <a:srgbClr val="FFFFFF"/>
          </a:solidFill>
          <a:ln w="9525">
            <a:solidFill>
              <a:srgbClr val="3B2A20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975550" y="4162425"/>
            <a:ext cx="3378100" cy="2447925"/>
          </a:xfrm>
          <a:prstGeom prst="roundRect">
            <a:avLst>
              <a:gd name="adj" fmla="val 10894"/>
            </a:avLst>
          </a:prstGeom>
          <a:solidFill>
            <a:srgbClr val="FFFFFF"/>
          </a:solidFill>
          <a:ln w="9525">
            <a:solidFill>
              <a:srgbClr val="3B2A20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232725" y="4676775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B2A2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804225" y="4676775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B2A2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499550" y="4676775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B2A2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318700" y="4676775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B2A2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232725" y="5029200"/>
            <a:ext cx="86677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B2A2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175700" y="5029200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B2A2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871025" y="5029200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B2A2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232725" y="5381625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B2A2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icon-sparkles-23385194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4676775"/>
            <a:ext cx="266700" cy="266700"/>
          </a:xfrm>
          <a:prstGeom prst="rect">
            <a:avLst/>
          </a:prstGeom>
        </p:spPr>
      </p:pic>
      <p:pic>
        <p:nvPicPr>
          <p:cNvPr id="26" name="Picture 25" descr="icon-heart-d6670425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4676775"/>
            <a:ext cx="266700" cy="266700"/>
          </a:xfrm>
          <a:prstGeom prst="rect">
            <a:avLst/>
          </a:prstGeom>
        </p:spPr>
      </p:pic>
      <p:pic>
        <p:nvPicPr>
          <p:cNvPr id="27" name="Picture 26" descr="icon-leaf-04283861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575" y="4676775"/>
            <a:ext cx="266700" cy="266700"/>
          </a:xfrm>
          <a:prstGeom prst="rect">
            <a:avLst/>
          </a:prstGeom>
        </p:spPr>
      </p:pic>
      <p:pic>
        <p:nvPicPr>
          <p:cNvPr id="28" name="Picture 27" descr="icon-compass-39916e46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2675" y="4676775"/>
            <a:ext cx="266700" cy="2667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838200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3B2A20"/>
                </a:solidFill>
                <a:latin typeface="Huninn"/>
                <a:ea typeface="Huninn"/>
              </a:rPr>
              <a:t>Design System · 粉彩玩趣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375" y="1762125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9DC183"/>
                </a:solidFill>
                <a:latin typeface="Noto Sans TC"/>
                <a:ea typeface="Noto Sans TC"/>
              </a:rPr>
              <a:t>色票 60-30-10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37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3B2A20">
                    <a:alpha val="80000"/>
                  </a:srgbClr>
                </a:solidFill>
                <a:latin typeface="ui-monospace"/>
                <a:ea typeface="ui-monospace"/>
              </a:rPr>
              <a:t>#3B2A20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22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3B2A20">
                    <a:alpha val="80000"/>
                  </a:srgbClr>
                </a:solidFill>
                <a:latin typeface="ui-monospace"/>
                <a:ea typeface="ui-monospace"/>
              </a:rPr>
              <a:t>#F6F4EE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07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3B2A20">
                    <a:alpha val="80000"/>
                  </a:srgbClr>
                </a:solidFill>
                <a:latin typeface="ui-monospace"/>
                <a:ea typeface="ui-monospace"/>
              </a:rPr>
              <a:t>#3B2A20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992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3B2A20">
                    <a:alpha val="80000"/>
                  </a:srgbClr>
                </a:solidFill>
                <a:latin typeface="ui-monospace"/>
                <a:ea typeface="ui-monospace"/>
              </a:rPr>
              <a:t>#9DC183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375" y="31718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3B2A20">
                    <a:alpha val="80000"/>
                  </a:srgbClr>
                </a:solidFill>
                <a:latin typeface="ui-monospace"/>
                <a:ea typeface="ui-monospace"/>
              </a:rPr>
              <a:t>#F9C6C0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0225" y="31718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3B2A20">
                    <a:alpha val="80000"/>
                  </a:srgbClr>
                </a:solidFill>
                <a:latin typeface="ui-monospace"/>
                <a:ea typeface="ui-monospace"/>
              </a:rPr>
              <a:t>#F6E27A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05075" y="31718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3B2A20">
                    <a:alpha val="80000"/>
                  </a:srgbClr>
                </a:solidFill>
                <a:latin typeface="ui-monospace"/>
                <a:ea typeface="ui-monospace"/>
              </a:rPr>
              <a:t>#B9CDEB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9925" y="31718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3B2A20">
                    <a:alpha val="80000"/>
                  </a:srgbClr>
                </a:solidFill>
                <a:latin typeface="ui-monospace"/>
                <a:ea typeface="ui-monospace"/>
              </a:rPr>
              <a:t>#CDB8E6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375" y="3409950"/>
            <a:ext cx="2920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900" b="0">
                <a:solidFill>
                  <a:srgbClr val="3B2A20">
                    <a:alpha val="70000"/>
                  </a:srgbClr>
                </a:solidFill>
                <a:latin typeface="Noto Sans TC"/>
                <a:ea typeface="Noto Sans TC"/>
              </a:rPr>
              <a:t>主色 · 背景 · 文字 · 強調（後面是底稿輔助色，只用在底稿）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975" y="1762125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9DC183"/>
                </a:solidFill>
                <a:latin typeface="Noto Sans TC"/>
                <a:ea typeface="Noto Sans TC"/>
              </a:rPr>
              <a:t>字型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975" y="2038350"/>
            <a:ext cx="2921049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>
                <a:solidFill>
                  <a:srgbClr val="3B2A20"/>
                </a:solidFill>
                <a:latin typeface="Huninn"/>
                <a:ea typeface="Huninn"/>
              </a:rPr>
              <a:t>標題 Huninn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975" y="2541240"/>
            <a:ext cx="2921049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A20"/>
                </a:solidFill>
                <a:latin typeface="Noto Sans TC"/>
                <a:ea typeface="Noto Sans TC"/>
              </a:rPr>
              <a:t>內文 Noto Sans TC · 字級 72 / 40 / 22 / 14 · 行距 1.7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2725" y="1762125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9DC183"/>
                </a:solidFill>
                <a:latin typeface="Noto Sans TC"/>
                <a:ea typeface="Noto Sans TC"/>
              </a:rPr>
              <a:t>底稿風格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2725" y="2038350"/>
            <a:ext cx="29209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>
                <a:solidFill>
                  <a:srgbClr val="3B2A20"/>
                </a:solidFill>
                <a:latin typeface="Huninn"/>
                <a:ea typeface="Huninn"/>
              </a:rPr>
              <a:t>粉彩色塊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2725" y="2541240"/>
            <a:ext cx="2920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>
                <a:solidFill>
                  <a:srgbClr val="3B2A20"/>
                </a:solidFill>
                <a:latin typeface="Noto Sans TC"/>
                <a:ea typeface="Noto Sans TC"/>
              </a:rPr>
              <a:t>邊緣散落粉彩有機色塊；標題色帶；卡片三種粉彩底；章節頁換強調綠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5375" y="4400550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9DC183"/>
                </a:solidFill>
                <a:latin typeface="Noto Sans TC"/>
                <a:ea typeface="Noto Sans TC"/>
              </a:rPr>
              <a:t>元件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375" y="5057775"/>
            <a:ext cx="292090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A20"/>
                </a:solidFill>
                <a:latin typeface="Noto Sans TC"/>
                <a:ea typeface="Noto Sans TC"/>
              </a:rPr>
              <a:t>Lucide icon 粗細 2 · 卡片圓角 28px · 頁碼右下 14px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975" y="4400550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9DC183"/>
                </a:solidFill>
                <a:latin typeface="Noto Sans TC"/>
                <a:ea typeface="Noto Sans TC"/>
              </a:rPr>
              <a:t>場景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975" y="4676775"/>
            <a:ext cx="2921049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A20"/>
                </a:solidFill>
                <a:latin typeface="Noto Sans TC"/>
                <a:ea typeface="Noto Sans TC"/>
              </a:rPr>
              <a:t>活動企劃、社群、教育、親子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975" y="5034855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3B2A20">
                    <a:alpha val="70000"/>
                  </a:srgbClr>
                </a:solidFill>
                <a:latin typeface="Noto Sans TC"/>
                <a:ea typeface="Noto Sans TC"/>
              </a:rPr>
              <a:t>留白適中（頁邊 88px）· 每頁 ≤55 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2725" y="4400550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9DC183"/>
                </a:solidFill>
                <a:latin typeface="Noto Sans TC"/>
                <a:ea typeface="Noto Sans TC"/>
              </a:rPr>
              <a:t>頁型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32725" y="4676775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3B2A20"/>
                </a:solidFill>
                <a:latin typeface="Noto Sans TC"/>
                <a:ea typeface="Noto Sans TC"/>
              </a:rPr>
              <a:t>封面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04225" y="4676775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3B2A20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99550" y="4676775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3B2A20"/>
                </a:solidFill>
                <a:latin typeface="Noto Sans TC"/>
                <a:ea typeface="Noto Sans TC"/>
              </a:rPr>
              <a:t>三欄重點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18700" y="4676775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3B2A20"/>
                </a:solidFill>
                <a:latin typeface="Noto Sans TC"/>
                <a:ea typeface="Noto Sans TC"/>
              </a:rPr>
              <a:t>左文右圖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2725" y="5029200"/>
            <a:ext cx="9239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3B2A20"/>
                </a:solidFill>
                <a:latin typeface="Noto Sans TC"/>
                <a:ea typeface="Noto Sans TC"/>
              </a:rPr>
              <a:t>一頁一數字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75700" y="5029200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3B2A20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1025" y="5029200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3B2A20"/>
                </a:solidFill>
                <a:latin typeface="Noto Sans TC"/>
                <a:ea typeface="Noto Sans TC"/>
              </a:rPr>
              <a:t>步驟流程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2725" y="5381625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3B2A20"/>
                </a:solidFill>
                <a:latin typeface="Noto Sans TC"/>
                <a:ea typeface="Noto Sans TC"/>
              </a:rPr>
              <a:t>封底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2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3377951"/>
            <a:ext cx="10515600" cy="26418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377951"/>
            <a:ext cx="1057275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0" spc="359">
                <a:solidFill>
                  <a:srgbClr val="9DC183"/>
                </a:solidFill>
                <a:latin typeface="Noto Sans TC"/>
                <a:ea typeface="Noto Sans TC"/>
              </a:rPr>
              <a:t>HOP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827412"/>
            <a:ext cx="10572750" cy="1683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sz="5400" b="0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  <a:p>
            <a:pPr algn="l">
              <a:lnSpc>
                <a:spcPts val="6480"/>
              </a:lnSpc>
            </a:pPr>
            <a:r>
              <a:rPr sz="5400" b="0">
                <a:solidFill>
                  <a:srgbClr val="3B2A20"/>
                </a:solidFill>
                <a:latin typeface="Huninn"/>
                <a:ea typeface="Huninn"/>
              </a:rPr>
              <a:t>活動企劃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663654"/>
            <a:ext cx="10572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週末，把街口變成市集。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472630"/>
            <a:ext cx="105727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0">
                <a:solidFill>
                  <a:srgbClr val="3B2A20">
                    <a:alpha val="35000"/>
                  </a:srgbClr>
                </a:solidFill>
                <a:latin typeface="Huninn"/>
                <a:ea typeface="Hunin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691830"/>
            <a:ext cx="10572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0">
                <a:solidFill>
                  <a:srgbClr val="3B2A20"/>
                </a:solidFill>
                <a:latin typeface="Huninn"/>
                <a:ea typeface="Huninn"/>
              </a:rPr>
              <a:t>市集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4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8200" y="2831752"/>
            <a:ext cx="3251150" cy="1918245"/>
          </a:xfrm>
          <a:prstGeom prst="roundRect">
            <a:avLst>
              <a:gd name="adj" fmla="val 13903"/>
            </a:avLst>
          </a:prstGeom>
          <a:solidFill>
            <a:srgbClr val="F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470350" y="2831752"/>
            <a:ext cx="3251150" cy="1918245"/>
          </a:xfrm>
          <a:prstGeom prst="roundRect">
            <a:avLst>
              <a:gd name="adj" fmla="val 13903"/>
            </a:avLst>
          </a:prstGeom>
          <a:solidFill>
            <a:srgbClr val="F6E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02500" y="2831752"/>
            <a:ext cx="3251299" cy="1918245"/>
          </a:xfrm>
          <a:prstGeom prst="roundRect">
            <a:avLst>
              <a:gd name="adj" fmla="val 13903"/>
            </a:avLst>
          </a:prstGeom>
          <a:solidFill>
            <a:srgbClr val="B9C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on-sparkles-23385194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36552"/>
            <a:ext cx="381000" cy="381000"/>
          </a:xfrm>
          <a:prstGeom prst="rect">
            <a:avLst/>
          </a:prstGeom>
        </p:spPr>
      </p:pic>
      <p:pic>
        <p:nvPicPr>
          <p:cNvPr id="7" name="Picture 6" descr="icon-heart-d6670425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150" y="3136552"/>
            <a:ext cx="381000" cy="381000"/>
          </a:xfrm>
          <a:prstGeom prst="rect">
            <a:avLst/>
          </a:prstGeom>
        </p:spPr>
      </p:pic>
      <p:pic>
        <p:nvPicPr>
          <p:cNvPr id="8" name="Picture 7" descr="icon-leaf-04283861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300" y="3136552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838200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3B2A20"/>
                </a:solidFill>
                <a:latin typeface="Huninn"/>
                <a:ea typeface="Huninn"/>
              </a:rPr>
              <a:t>三件事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08052"/>
            <a:ext cx="269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週末限定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89052"/>
            <a:ext cx="269870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每月第一個週六。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150" y="3708052"/>
            <a:ext cx="269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親子友善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150" y="4089052"/>
            <a:ext cx="269870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有遊戲區，有奶瓶溫水。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300" y="3708052"/>
            <a:ext cx="2698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零廢棄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4089052"/>
            <a:ext cx="2698849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自備容器折 10 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362700" y="1919287"/>
            <a:ext cx="4991100" cy="3743325"/>
          </a:xfrm>
          <a:prstGeom prst="roundRect">
            <a:avLst>
              <a:gd name="adj" fmla="val 7124"/>
            </a:avLst>
          </a:prstGeom>
          <a:solidFill>
            <a:srgbClr val="B9C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38200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3B2A20"/>
                </a:solidFill>
                <a:latin typeface="Huninn"/>
                <a:ea typeface="Huninn"/>
              </a:rPr>
              <a:t>一場市集的樣子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847082"/>
            <a:ext cx="5048250" cy="6609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40 個攤位，一半是吃的。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69927"/>
            <a:ext cx="504825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舞台每小時一組表演。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102298"/>
            <a:ext cx="504825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下午四點，一起收攤。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5281612"/>
            <a:ext cx="34642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照片佔位：搜尋 outdoor market crowd colorful daytime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956494"/>
            <a:ext cx="1057275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sz="15000" b="0">
                <a:solidFill>
                  <a:srgbClr val="9DC183"/>
                </a:solidFill>
                <a:latin typeface="Huninn"/>
                <a:ea typeface="Huninn"/>
              </a:rPr>
              <a:t>6,000 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090094"/>
            <a:ext cx="61531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上一場市集的來客數。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674840"/>
            <a:ext cx="6153150" cy="26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050" b="0">
                <a:solidFill>
                  <a:srgbClr val="3B2A20">
                    <a:alpha val="85000"/>
                  </a:srgbClr>
                </a:solidFill>
                <a:latin typeface="Noto Sans TC"/>
                <a:ea typeface="Noto Sans TC"/>
              </a:rPr>
              <a:t>示意數字，換成你的。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472630"/>
            <a:ext cx="105727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0">
                <a:solidFill>
                  <a:srgbClr val="3B2A20">
                    <a:alpha val="35000"/>
                  </a:srgbClr>
                </a:solidFill>
                <a:latin typeface="Huninn"/>
                <a:ea typeface="Hunin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691830"/>
            <a:ext cx="10572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0">
                <a:solidFill>
                  <a:srgbClr val="3B2A20"/>
                </a:solidFill>
                <a:latin typeface="Huninn"/>
                <a:ea typeface="Huninn"/>
              </a:rPr>
              <a:t>報名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8200" y="2907952"/>
            <a:ext cx="3251150" cy="1765845"/>
          </a:xfrm>
          <a:prstGeom prst="roundRect">
            <a:avLst>
              <a:gd name="adj" fmla="val 15103"/>
            </a:avLst>
          </a:prstGeom>
          <a:solidFill>
            <a:srgbClr val="F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470350" y="2907952"/>
            <a:ext cx="3251150" cy="1765845"/>
          </a:xfrm>
          <a:prstGeom prst="roundRect">
            <a:avLst>
              <a:gd name="adj" fmla="val 15103"/>
            </a:avLst>
          </a:prstGeom>
          <a:solidFill>
            <a:srgbClr val="F6E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02500" y="2907952"/>
            <a:ext cx="3251299" cy="1765845"/>
          </a:xfrm>
          <a:prstGeom prst="roundRect">
            <a:avLst>
              <a:gd name="adj" fmla="val 15103"/>
            </a:avLst>
          </a:prstGeom>
          <a:solidFill>
            <a:srgbClr val="B9C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838200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3B2A20"/>
                </a:solidFill>
                <a:latin typeface="Huninn"/>
                <a:ea typeface="Huninn"/>
              </a:rPr>
              <a:t>三步開始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74652"/>
            <a:ext cx="2698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>
                <a:solidFill>
                  <a:srgbClr val="9DC183"/>
                </a:solidFill>
                <a:latin typeface="Huninn"/>
                <a:ea typeface="Hunin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89002"/>
            <a:ext cx="269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填表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50952"/>
            <a:ext cx="269870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三分鐘，寫你賣什麼。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150" y="3174652"/>
            <a:ext cx="2698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>
                <a:solidFill>
                  <a:srgbClr val="9DC183"/>
                </a:solidFill>
                <a:latin typeface="Huninn"/>
                <a:ea typeface="Huninn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150" y="3689002"/>
            <a:ext cx="269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審核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150" y="4050952"/>
            <a:ext cx="269870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一週內回覆。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7300" y="3174652"/>
            <a:ext cx="26988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>
                <a:solidFill>
                  <a:srgbClr val="9DC183"/>
                </a:solidFill>
                <a:latin typeface="Huninn"/>
                <a:ea typeface="Hunin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300" y="3689002"/>
            <a:ext cx="2698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擺攤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4050952"/>
            <a:ext cx="2698849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週六早上八點進場。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vid-4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62170" y="457200"/>
            <a:ext cx="9487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3B2A20"/>
                </a:solidFill>
                <a:latin typeface="Huninn"/>
                <a:ea typeface="Huninn"/>
              </a:rPr>
              <a:t>跳跳市集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850802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3B2A20"/>
                </a:solidFill>
                <a:latin typeface="Huninn"/>
                <a:ea typeface="Huninn"/>
              </a:rPr>
              <a:t>下個週六，街口見。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650902"/>
            <a:ext cx="10572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3B2A20"/>
                </a:solidFill>
                <a:latin typeface="Noto Sans TC"/>
                <a:ea typeface="Noto Sans TC"/>
              </a:rPr>
              <a:t>hop@market.example（示意，換成你的）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3B2A20"/>
                </a:solidFill>
                <a:latin typeface="Noto Sans TC"/>
                <a:ea typeface="Noto Sans T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