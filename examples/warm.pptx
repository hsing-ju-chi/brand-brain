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63175" y="533400"/>
            <a:ext cx="11715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350" b="0" spc="405">
                <a:solidFill>
                  <a:srgbClr val="2F4B8A"/>
                </a:solidFill>
                <a:latin typeface="Iansui"/>
                <a:ea typeface="Iansui"/>
              </a:rPr>
              <a:t>小日子烘焙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420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0">
                <a:solidFill>
                  <a:srgbClr val="2F4B8A"/>
                </a:solidFill>
                <a:latin typeface="Iansui"/>
                <a:ea typeface="Iansui"/>
              </a:rPr>
              <a:t>Design System · 塗鴉手繪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1575" y="1838325"/>
            <a:ext cx="2870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E4A11B"/>
                </a:solidFill>
                <a:latin typeface="Noto Sans TC"/>
                <a:ea typeface="Noto Sans TC"/>
              </a:rPr>
              <a:t>色票 60-30-10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1575" y="2571750"/>
            <a:ext cx="666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825" b="0">
                <a:solidFill>
                  <a:srgbClr val="23262E">
                    <a:alpha val="80000"/>
                  </a:srgbClr>
                </a:solidFill>
                <a:latin typeface="ui-monospace"/>
                <a:ea typeface="ui-monospace"/>
              </a:rPr>
              <a:t>#2F4B8A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6425" y="2571750"/>
            <a:ext cx="666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825" b="0">
                <a:solidFill>
                  <a:srgbClr val="23262E">
                    <a:alpha val="80000"/>
                  </a:srgbClr>
                </a:solidFill>
                <a:latin typeface="ui-monospace"/>
                <a:ea typeface="ui-monospace"/>
              </a:rPr>
              <a:t>#FFF9F0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1275" y="2571750"/>
            <a:ext cx="666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825" b="0">
                <a:solidFill>
                  <a:srgbClr val="23262E">
                    <a:alpha val="80000"/>
                  </a:srgbClr>
                </a:solidFill>
                <a:latin typeface="ui-monospace"/>
                <a:ea typeface="ui-monospace"/>
              </a:rPr>
              <a:t>#23262E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86125" y="2571750"/>
            <a:ext cx="666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825" b="0">
                <a:solidFill>
                  <a:srgbClr val="23262E">
                    <a:alpha val="80000"/>
                  </a:srgbClr>
                </a:solidFill>
                <a:latin typeface="ui-monospace"/>
                <a:ea typeface="ui-monospace"/>
              </a:rPr>
              <a:t>#E4A11B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1575" y="2809875"/>
            <a:ext cx="2870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>
                <a:solidFill>
                  <a:srgbClr val="23262E">
                    <a:alpha val="70000"/>
                  </a:srgbClr>
                </a:solidFill>
                <a:latin typeface="Noto Sans TC"/>
                <a:ea typeface="Noto Sans TC"/>
              </a:rPr>
              <a:t>主色 · 背景 · 文字 · 強調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9425" y="1838325"/>
            <a:ext cx="2870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E4A11B"/>
                </a:solidFill>
                <a:latin typeface="Noto Sans TC"/>
                <a:ea typeface="Noto Sans TC"/>
              </a:rPr>
              <a:t>字型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9425" y="2114550"/>
            <a:ext cx="2870150" cy="42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>
                <a:solidFill>
                  <a:srgbClr val="2F4B8A"/>
                </a:solidFill>
                <a:latin typeface="Iansui"/>
                <a:ea typeface="Iansui"/>
              </a:rPr>
              <a:t>標題 Iansui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9425" y="2617440"/>
            <a:ext cx="2870150" cy="52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23262E"/>
                </a:solidFill>
                <a:latin typeface="Noto Sans TC"/>
                <a:ea typeface="Noto Sans TC"/>
              </a:rPr>
              <a:t>內文 Noto Sans TC · 字級 72 / 40 / 22 / 14 · 行距 1.8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7275" y="1838325"/>
            <a:ext cx="287029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E4A11B"/>
                </a:solidFill>
                <a:latin typeface="Noto Sans TC"/>
                <a:ea typeface="Noto Sans TC"/>
              </a:rPr>
              <a:t>底稿風格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7275" y="2114550"/>
            <a:ext cx="2870299" cy="42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>
                <a:solidFill>
                  <a:srgbClr val="2F4B8A"/>
                </a:solidFill>
                <a:latin typeface="Iansui"/>
                <a:ea typeface="Iansui"/>
              </a:rPr>
              <a:t>紙紋塗鴉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7275" y="2617440"/>
            <a:ext cx="2870299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>
                <a:solidFill>
                  <a:srgbClr val="23262E"/>
                </a:solidFill>
                <a:latin typeface="Noto Sans TC"/>
                <a:ea typeface="Noto Sans TC"/>
              </a:rPr>
              <a:t>紙張顆粒＋散落塗鴉（星、箭頭、圈圈、波浪）；標題螢光筆底線；卡片手繪框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1575" y="4105275"/>
            <a:ext cx="2870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E4A11B"/>
                </a:solidFill>
                <a:latin typeface="Noto Sans TC"/>
                <a:ea typeface="Noto Sans TC"/>
              </a:rPr>
              <a:t>元件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1575" y="4762500"/>
            <a:ext cx="2870150" cy="52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23262E"/>
                </a:solidFill>
                <a:latin typeface="Noto Sans TC"/>
                <a:ea typeface="Noto Sans TC"/>
              </a:rPr>
              <a:t>Lucide icon 粗細 2 · 卡片圓角 8px · 頁碼右下 14px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9425" y="4105275"/>
            <a:ext cx="2870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E4A11B"/>
                </a:solidFill>
                <a:latin typeface="Noto Sans TC"/>
                <a:ea typeface="Noto Sans TC"/>
              </a:rPr>
              <a:t>場景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9425" y="4381500"/>
            <a:ext cx="2870150" cy="28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23262E"/>
                </a:solidFill>
                <a:latin typeface="Noto Sans TC"/>
                <a:ea typeface="Noto Sans TC"/>
              </a:rPr>
              <a:t>在地品牌、社區、教育、工作坊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9425" y="4739580"/>
            <a:ext cx="2870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>
                <a:solidFill>
                  <a:srgbClr val="23262E">
                    <a:alpha val="70000"/>
                  </a:srgbClr>
                </a:solidFill>
                <a:latin typeface="Noto Sans TC"/>
                <a:ea typeface="Noto Sans TC"/>
              </a:rPr>
              <a:t>留白大（頁邊 96px）· 每頁 ≤50 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7275" y="4105275"/>
            <a:ext cx="287029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E4A11B"/>
                </a:solidFill>
                <a:latin typeface="Noto Sans TC"/>
                <a:ea typeface="Noto Sans TC"/>
              </a:rPr>
              <a:t>頁型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7275" y="4381500"/>
            <a:ext cx="5524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2F4B8A"/>
                </a:solidFill>
                <a:latin typeface="Noto Sans TC"/>
                <a:ea typeface="Noto Sans TC"/>
              </a:rPr>
              <a:t>封面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775" y="4381500"/>
            <a:ext cx="6762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2F4B8A"/>
                </a:solidFill>
                <a:latin typeface="Noto Sans TC"/>
                <a:ea typeface="Noto Sans TC"/>
              </a:rPr>
              <a:t>章節頁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4100" y="4381500"/>
            <a:ext cx="8001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2F4B8A"/>
                </a:solidFill>
                <a:latin typeface="Noto Sans TC"/>
                <a:ea typeface="Noto Sans TC"/>
              </a:rPr>
              <a:t>三欄重點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7275" y="4733925"/>
            <a:ext cx="8001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2F4B8A"/>
                </a:solidFill>
                <a:latin typeface="Noto Sans TC"/>
                <a:ea typeface="Noto Sans TC"/>
              </a:rPr>
              <a:t>左文右圖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6425" y="4733925"/>
            <a:ext cx="92392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2F4B8A"/>
                </a:solidFill>
                <a:latin typeface="Noto Sans TC"/>
                <a:ea typeface="Noto Sans TC"/>
              </a:rPr>
              <a:t>一頁一數字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9400" y="4733925"/>
            <a:ext cx="6762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2F4B8A"/>
                </a:solidFill>
                <a:latin typeface="Noto Sans TC"/>
                <a:ea typeface="Noto Sans TC"/>
              </a:rPr>
              <a:t>章節頁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7275" y="5086350"/>
            <a:ext cx="8001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2F4B8A"/>
                </a:solidFill>
                <a:latin typeface="Noto Sans TC"/>
                <a:ea typeface="Noto Sans TC"/>
              </a:rPr>
              <a:t>步驟流程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26425" y="5086350"/>
            <a:ext cx="5524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2F4B8A"/>
                </a:solidFill>
                <a:latin typeface="Noto Sans TC"/>
                <a:ea typeface="Noto Sans TC"/>
              </a:rPr>
              <a:t>封底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293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2F4B8A"/>
                </a:solidFill>
                <a:latin typeface="Noto Sans TC"/>
                <a:ea typeface="Noto Sans T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-2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63175" y="533400"/>
            <a:ext cx="11715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350" b="0" spc="405">
                <a:solidFill>
                  <a:srgbClr val="2F4B8A"/>
                </a:solidFill>
                <a:latin typeface="Iansui"/>
                <a:ea typeface="Iansui"/>
              </a:rPr>
              <a:t>小日子烘焙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98737"/>
            <a:ext cx="10420350" cy="312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200" b="0" spc="359">
                <a:solidFill>
                  <a:srgbClr val="E4A11B"/>
                </a:solidFill>
                <a:latin typeface="Noto Sans TC"/>
                <a:ea typeface="Noto Sans TC"/>
              </a:rPr>
              <a:t>LITTLE DAYS BAKERY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63528"/>
            <a:ext cx="10420350" cy="1683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sz="5400" b="0">
                <a:solidFill>
                  <a:srgbClr val="2F4B8A"/>
                </a:solidFill>
                <a:latin typeface="Iansui"/>
                <a:ea typeface="Iansui"/>
              </a:rPr>
              <a:t>小日子烘焙</a:t>
            </a:r>
          </a:p>
          <a:p>
            <a:pPr algn="l">
              <a:lnSpc>
                <a:spcPts val="6480"/>
              </a:lnSpc>
            </a:pPr>
            <a:r>
              <a:rPr sz="5400" b="0">
                <a:solidFill>
                  <a:srgbClr val="2F4B8A"/>
                </a:solidFill>
                <a:latin typeface="Iansui"/>
                <a:ea typeface="Iansui"/>
              </a:rPr>
              <a:t>合作提案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66469"/>
            <a:ext cx="10420350" cy="4152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650" b="0">
                <a:solidFill>
                  <a:srgbClr val="23262E"/>
                </a:solidFill>
                <a:latin typeface="Noto Sans TC"/>
                <a:ea typeface="Noto Sans TC"/>
              </a:rPr>
              <a:t>每天現烤，送到你店裡。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93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2F4B8A"/>
                </a:solidFill>
                <a:latin typeface="Noto Sans TC"/>
                <a:ea typeface="Noto Sans T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-3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63175" y="533400"/>
            <a:ext cx="11715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350" b="0" spc="405">
                <a:solidFill>
                  <a:srgbClr val="FFF9F0"/>
                </a:solidFill>
                <a:latin typeface="Iansui"/>
                <a:ea typeface="Iansui"/>
              </a:rPr>
              <a:t>小日子烘焙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72630"/>
            <a:ext cx="10420350" cy="1181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sz="9000" b="0">
                <a:solidFill>
                  <a:srgbClr val="FFF9F0">
                    <a:alpha val="35000"/>
                  </a:srgbClr>
                </a:solidFill>
                <a:latin typeface="Iansui"/>
                <a:ea typeface="Ians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91830"/>
            <a:ext cx="104203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sz="4200" b="0">
                <a:solidFill>
                  <a:srgbClr val="FFF9F0"/>
                </a:solidFill>
                <a:latin typeface="Iansui"/>
                <a:ea typeface="Iansui"/>
              </a:rPr>
              <a:t>我們的麵包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293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FFF9F0"/>
                </a:solidFill>
                <a:latin typeface="Noto Sans TC"/>
                <a:ea typeface="Noto Sans T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-4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63175" y="533400"/>
            <a:ext cx="11715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350" b="0" spc="405">
                <a:solidFill>
                  <a:srgbClr val="2F4B8A"/>
                </a:solidFill>
                <a:latin typeface="Iansui"/>
                <a:ea typeface="Iansui"/>
              </a:rPr>
              <a:t>小日子烘焙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420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0">
                <a:solidFill>
                  <a:srgbClr val="2F4B8A"/>
                </a:solidFill>
                <a:latin typeface="Iansui"/>
                <a:ea typeface="Iansui"/>
              </a:rPr>
              <a:t>三件事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3509069"/>
            <a:ext cx="2647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2F4B8A"/>
                </a:solidFill>
                <a:latin typeface="Noto Sans TC"/>
                <a:ea typeface="Noto Sans TC"/>
              </a:rPr>
              <a:t>每天現烤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3890069"/>
            <a:ext cx="2647950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650" b="0">
                <a:solidFill>
                  <a:srgbClr val="23262E"/>
                </a:solidFill>
                <a:latin typeface="Noto Sans TC"/>
                <a:ea typeface="Noto Sans TC"/>
              </a:rPr>
              <a:t>凌晨四點開爐，早上八點到店。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3509069"/>
            <a:ext cx="2647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2F4B8A"/>
                </a:solidFill>
                <a:latin typeface="Noto Sans TC"/>
                <a:ea typeface="Noto Sans TC"/>
              </a:rPr>
              <a:t>小農麵粉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3890069"/>
            <a:ext cx="2647950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650" b="0">
                <a:solidFill>
                  <a:srgbClr val="23262E"/>
                </a:solidFill>
                <a:latin typeface="Noto Sans TC"/>
                <a:ea typeface="Noto Sans TC"/>
              </a:rPr>
              <a:t>三家台灣農場，看得到來源。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0" y="3509069"/>
            <a:ext cx="2647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2F4B8A"/>
                </a:solidFill>
                <a:latin typeface="Noto Sans TC"/>
                <a:ea typeface="Noto Sans TC"/>
              </a:rPr>
              <a:t>社區配送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0" y="3890069"/>
            <a:ext cx="2647950" cy="4152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650" b="0">
                <a:solidFill>
                  <a:srgbClr val="23262E"/>
                </a:solidFill>
                <a:latin typeface="Noto Sans TC"/>
                <a:ea typeface="Noto Sans TC"/>
              </a:rPr>
              <a:t>方圓三公里，自己送。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293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2F4B8A"/>
                </a:solidFill>
                <a:latin typeface="Noto Sans TC"/>
                <a:ea typeface="Noto Sans T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-5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63175" y="533400"/>
            <a:ext cx="11715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350" b="0" spc="405">
                <a:solidFill>
                  <a:srgbClr val="2F4B8A"/>
                </a:solidFill>
                <a:latin typeface="Iansui"/>
                <a:ea typeface="Iansui"/>
              </a:rPr>
              <a:t>小日子烘焙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420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0">
                <a:solidFill>
                  <a:srgbClr val="2F4B8A"/>
                </a:solidFill>
                <a:latin typeface="Iansui"/>
                <a:ea typeface="Iansui"/>
              </a:rPr>
              <a:t>一條麵包的一天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15679"/>
            <a:ext cx="4972050" cy="6819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650" b="0">
                <a:solidFill>
                  <a:srgbClr val="23262E"/>
                </a:solidFill>
                <a:latin typeface="Noto Sans TC"/>
                <a:ea typeface="Noto Sans TC"/>
              </a:rPr>
              <a:t>凌晨四點，麵團醒好。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59509"/>
            <a:ext cx="4972050" cy="691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650" b="0">
                <a:solidFill>
                  <a:srgbClr val="23262E"/>
                </a:solidFill>
                <a:latin typeface="Noto Sans TC"/>
                <a:ea typeface="Noto Sans TC"/>
              </a:rPr>
              <a:t>六點出爐，七點裝箱。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2865"/>
            <a:ext cx="4972050" cy="691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650" b="0">
                <a:solidFill>
                  <a:srgbClr val="23262E"/>
                </a:solidFill>
                <a:latin typeface="Noto Sans TC"/>
                <a:ea typeface="Noto Sans TC"/>
              </a:rPr>
              <a:t>八點以前，到你的櫃台。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0" y="5253037"/>
            <a:ext cx="360506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FFF9F0"/>
                </a:solidFill>
                <a:latin typeface="Noto Sans TC"/>
                <a:ea typeface="Noto Sans TC"/>
              </a:rPr>
              <a:t>照片佔位：搜尋 bakery bread on wooden table warm light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93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2F4B8A"/>
                </a:solidFill>
                <a:latin typeface="Noto Sans TC"/>
                <a:ea typeface="Noto Sans T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-6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63175" y="533400"/>
            <a:ext cx="11715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350" b="0" spc="405">
                <a:solidFill>
                  <a:srgbClr val="2F4B8A"/>
                </a:solidFill>
                <a:latin typeface="Iansui"/>
                <a:ea typeface="Iansui"/>
              </a:rPr>
              <a:t>小日子烘焙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39379"/>
            <a:ext cx="10420350" cy="194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sz="15000" b="0">
                <a:solidFill>
                  <a:srgbClr val="E4A11B"/>
                </a:solidFill>
                <a:latin typeface="Iansui"/>
                <a:ea typeface="Iansui"/>
              </a:rPr>
              <a:t>1,200 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72979"/>
            <a:ext cx="6153150" cy="4152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650" b="0">
                <a:solidFill>
                  <a:srgbClr val="23262E"/>
                </a:solidFill>
                <a:latin typeface="Noto Sans TC"/>
                <a:ea typeface="Noto Sans TC"/>
              </a:rPr>
              <a:t>每週固定回購的鄰居。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78709"/>
            <a:ext cx="6153150" cy="278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>
                <a:solidFill>
                  <a:srgbClr val="2F4B8A">
                    <a:alpha val="85000"/>
                  </a:srgbClr>
                </a:solidFill>
                <a:latin typeface="Noto Sans TC"/>
                <a:ea typeface="Noto Sans TC"/>
              </a:rPr>
              <a:t>示意數字，換成你的。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93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2F4B8A"/>
                </a:solidFill>
                <a:latin typeface="Noto Sans TC"/>
                <a:ea typeface="Noto Sans T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-3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63175" y="533400"/>
            <a:ext cx="11715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350" b="0" spc="405">
                <a:solidFill>
                  <a:srgbClr val="FFF9F0"/>
                </a:solidFill>
                <a:latin typeface="Iansui"/>
                <a:ea typeface="Iansui"/>
              </a:rPr>
              <a:t>小日子烘焙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72630"/>
            <a:ext cx="10420350" cy="1181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sz="9000" b="0">
                <a:solidFill>
                  <a:srgbClr val="FFF9F0">
                    <a:alpha val="35000"/>
                  </a:srgbClr>
                </a:solidFill>
                <a:latin typeface="Iansui"/>
                <a:ea typeface="Ians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91830"/>
            <a:ext cx="104203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sz="4200" b="0">
                <a:solidFill>
                  <a:srgbClr val="FFF9F0"/>
                </a:solidFill>
                <a:latin typeface="Iansui"/>
                <a:ea typeface="Iansui"/>
              </a:rPr>
              <a:t>怎麼合作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293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FFF9F0"/>
                </a:solidFill>
                <a:latin typeface="Noto Sans TC"/>
                <a:ea typeface="Noto Sans T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-8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63175" y="533400"/>
            <a:ext cx="11715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350" b="0" spc="405">
                <a:solidFill>
                  <a:srgbClr val="2F4B8A"/>
                </a:solidFill>
                <a:latin typeface="Iansui"/>
                <a:ea typeface="Iansui"/>
              </a:rPr>
              <a:t>小日子烘焙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420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0">
                <a:solidFill>
                  <a:srgbClr val="2F4B8A"/>
                </a:solidFill>
                <a:latin typeface="Iansui"/>
                <a:ea typeface="Iansui"/>
              </a:rPr>
              <a:t>三步開始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2975669"/>
            <a:ext cx="26479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0">
                <a:solidFill>
                  <a:srgbClr val="E4A11B"/>
                </a:solidFill>
                <a:latin typeface="Iansui"/>
                <a:ea typeface="Ians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3490019"/>
            <a:ext cx="2647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2F4B8A"/>
                </a:solidFill>
                <a:latin typeface="Noto Sans TC"/>
                <a:ea typeface="Noto Sans TC"/>
              </a:rPr>
              <a:t>試吃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3851969"/>
            <a:ext cx="2647950" cy="4152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650" b="0">
                <a:solidFill>
                  <a:srgbClr val="23262E"/>
                </a:solidFill>
                <a:latin typeface="Noto Sans TC"/>
                <a:ea typeface="Noto Sans TC"/>
              </a:rPr>
              <a:t>送一箱到店，你先吃。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2975669"/>
            <a:ext cx="26479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0">
                <a:solidFill>
                  <a:srgbClr val="E4A11B"/>
                </a:solidFill>
                <a:latin typeface="Iansui"/>
                <a:ea typeface="Ians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3490019"/>
            <a:ext cx="2647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2F4B8A"/>
                </a:solidFill>
                <a:latin typeface="Noto Sans TC"/>
                <a:ea typeface="Noto Sans TC"/>
              </a:rPr>
              <a:t>排品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3851969"/>
            <a:ext cx="2647950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650" b="0">
                <a:solidFill>
                  <a:srgbClr val="23262E"/>
                </a:solidFill>
                <a:latin typeface="Noto Sans TC"/>
                <a:ea typeface="Noto Sans TC"/>
              </a:rPr>
              <a:t>一起挑三款最適合你的客人。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0" y="2975669"/>
            <a:ext cx="26479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0">
                <a:solidFill>
                  <a:srgbClr val="E4A11B"/>
                </a:solidFill>
                <a:latin typeface="Iansui"/>
                <a:ea typeface="Iansu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0" y="3490019"/>
            <a:ext cx="2647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2F4B8A"/>
                </a:solidFill>
                <a:latin typeface="Noto Sans TC"/>
                <a:ea typeface="Noto Sans TC"/>
              </a:rPr>
              <a:t>固定送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0" y="3851969"/>
            <a:ext cx="2647950" cy="4152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650" b="0">
                <a:solidFill>
                  <a:srgbClr val="23262E"/>
                </a:solidFill>
                <a:latin typeface="Noto Sans TC"/>
                <a:ea typeface="Noto Sans TC"/>
              </a:rPr>
              <a:t>每週三、六早上送到。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293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2F4B8A"/>
                </a:solidFill>
                <a:latin typeface="Noto Sans TC"/>
                <a:ea typeface="Noto Sans T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-9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63175" y="533400"/>
            <a:ext cx="11715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350" b="0" spc="405">
                <a:solidFill>
                  <a:srgbClr val="2F4B8A"/>
                </a:solidFill>
                <a:latin typeface="Iansui"/>
                <a:ea typeface="Iansui"/>
              </a:rPr>
              <a:t>小日子烘焙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40384"/>
            <a:ext cx="10420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0">
                <a:solidFill>
                  <a:srgbClr val="2F4B8A"/>
                </a:solidFill>
                <a:latin typeface="Iansui"/>
                <a:ea typeface="Iansui"/>
              </a:rPr>
              <a:t>明天早上，先送一箱過去？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40484"/>
            <a:ext cx="10420350" cy="4152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650" b="0">
                <a:solidFill>
                  <a:srgbClr val="2F4B8A"/>
                </a:solidFill>
                <a:latin typeface="Noto Sans TC"/>
                <a:ea typeface="Noto Sans TC"/>
              </a:rPr>
              <a:t>hi@littledays.example（示意，換成你的）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29367" y="6362700"/>
            <a:ext cx="2053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2F4B8A"/>
                </a:solidFill>
                <a:latin typeface="Noto Sans TC"/>
                <a:ea typeface="Noto Sans TC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